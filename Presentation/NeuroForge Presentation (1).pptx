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4" r:id="rId28"/>
    <p:sldId id="282" r:id="rId29"/>
    <p:sldId id="283" r:id="rId30"/>
  </p:sldIdLst>
  <p:sldSz cx="12192000" cy="6858000"/>
  <p:notesSz cx="6858000" cy="9144000"/>
  <p:embeddedFontLst>
    <p:embeddedFont>
      <p:font typeface="Inter" panose="020B0604020202020204" charset="0"/>
      <p:regular r:id="rId32"/>
      <p:bold r:id="rId33"/>
      <p:italic r:id="rId34"/>
      <p:boldItalic r:id="rId35"/>
    </p:embeddedFont>
    <p:embeddedFont>
      <p:font typeface="Inter SemiBold" panose="020B0604020202020204" charset="0"/>
      <p:regular r:id="rId36"/>
      <p:bold r:id="rId37"/>
      <p:italic r:id="rId38"/>
      <p:boldItalic r:id="rId39"/>
    </p:embeddedFont>
    <p:embeddedFont>
      <p:font typeface="Space Grotesk" panose="020B0604020202020204" charset="0"/>
      <p:regular r:id="rId40"/>
      <p:bold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0E06E19-0624-43C1-B0BD-DA508C9A1689}">
  <a:tblStyle styleId="{60E06E19-0624-43C1-B0BD-DA508C9A1689}"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20" autoAdjust="0"/>
    <p:restoredTop sz="94660"/>
  </p:normalViewPr>
  <p:slideViewPr>
    <p:cSldViewPr snapToGrid="0">
      <p:cViewPr varScale="1">
        <p:scale>
          <a:sx n="43" d="100"/>
          <a:sy n="43" d="100"/>
        </p:scale>
        <p:origin x="898" y="3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4311894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853798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1" name="Google Shape;9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92998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44557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8" name="Google Shape;12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535679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0" name="Google Shape;160;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46726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9" name="Google Shape;169;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8314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9395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fad4e52e9b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fad4e52e9b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6198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6" name="Google Shape;20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839076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0" name="Google Shape;22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35556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3fad4e52e9b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3fad4e52e9b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67136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fad4e52e9b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8" name="Google Shape;238;g3fad4e52e9b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461374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fad4e52e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8" name="Google Shape;248;g3fad4e52e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318290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59" name="Google Shape;259;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582016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7" name="Google Shape;267;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48459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0" name="Google Shape;280;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04106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8634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7"/>
        <p:cNvGrpSpPr/>
        <p:nvPr/>
      </p:nvGrpSpPr>
      <p:grpSpPr>
        <a:xfrm>
          <a:off x="0" y="0"/>
          <a:ext cx="0" cy="0"/>
          <a:chOff x="0" y="0"/>
          <a:chExt cx="0" cy="0"/>
        </a:xfrm>
      </p:grpSpPr>
      <p:sp>
        <p:nvSpPr>
          <p:cNvPr id="308" name="Google Shape;308;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9" name="Google Shape;309;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8513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5" name="Google Shape;325;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87322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8" name="Google Shape;338;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091578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3fad4e52e9b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1" name="Google Shape;351;g3fad4e52e9b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7590104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2" name="Google Shape;362;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02153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2" name="Google Shape;38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6237803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1"/>
        <p:cNvGrpSpPr/>
        <p:nvPr/>
      </p:nvGrpSpPr>
      <p:grpSpPr>
        <a:xfrm>
          <a:off x="0" y="0"/>
          <a:ext cx="0" cy="0"/>
          <a:chOff x="0" y="0"/>
          <a:chExt cx="0" cy="0"/>
        </a:xfrm>
      </p:grpSpPr>
      <p:sp>
        <p:nvSpPr>
          <p:cNvPr id="392" name="Google Shape;392;g3fad4e52e9b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3" name="Google Shape;393;g3fad4e52e9b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04498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3" name="Google Shape;403;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318799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6" name="Google Shape;41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47162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4"/>
        <p:cNvGrpSpPr/>
        <p:nvPr/>
      </p:nvGrpSpPr>
      <p:grpSpPr>
        <a:xfrm>
          <a:off x="0" y="0"/>
          <a:ext cx="0" cy="0"/>
          <a:chOff x="0" y="0"/>
          <a:chExt cx="0" cy="0"/>
        </a:xfrm>
      </p:grpSpPr>
      <p:sp>
        <p:nvSpPr>
          <p:cNvPr id="415" name="Google Shape;415;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6" name="Google Shape;416;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352159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9" name="Google Shape;429;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055823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2" name="Google Shape;442;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376445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3" Type="http://schemas.openxmlformats.org/officeDocument/2006/relationships/image" Target="../media/image1.png"/><Relationship Id="rId7" Type="http://schemas.openxmlformats.org/officeDocument/2006/relationships/image" Target="../media/image15.png"/><Relationship Id="rId12"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5.jp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1.png"/><Relationship Id="rId7" Type="http://schemas.openxmlformats.org/officeDocument/2006/relationships/image" Target="../media/image30.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image" Target="../media/image34.png"/><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1.png"/><Relationship Id="rId7"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48.png"/></Relationships>
</file>

<file path=ppt/slides/_rels/slide18.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1.png"/><Relationship Id="rId7"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 Id="rId9" Type="http://schemas.openxmlformats.org/officeDocument/2006/relationships/image" Target="../media/image5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34.png"/><Relationship Id="rId4" Type="http://schemas.openxmlformats.org/officeDocument/2006/relationships/image" Target="../media/image3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34.png"/><Relationship Id="rId4" Type="http://schemas.openxmlformats.org/officeDocument/2006/relationships/image" Target="../media/image33.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7.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60.png"/><Relationship Id="rId4" Type="http://schemas.openxmlformats.org/officeDocument/2006/relationships/image" Target="../media/image59.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34.png"/><Relationship Id="rId4" Type="http://schemas.openxmlformats.org/officeDocument/2006/relationships/image" Target="../media/image33.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34.png"/><Relationship Id="rId4" Type="http://schemas.openxmlformats.org/officeDocument/2006/relationships/image" Target="../media/image3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68.png"/><Relationship Id="rId3" Type="http://schemas.openxmlformats.org/officeDocument/2006/relationships/image" Target="../media/image63.jpg"/><Relationship Id="rId7" Type="http://schemas.openxmlformats.org/officeDocument/2006/relationships/image" Target="../media/image67.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image" Target="../media/image64.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12032" y="12032"/>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5595936" y="4454797"/>
            <a:ext cx="1000125" cy="400050"/>
          </a:xfrm>
          <a:prstGeom prst="rect">
            <a:avLst/>
          </a:prstGeom>
          <a:noFill/>
          <a:ln>
            <a:noFill/>
          </a:ln>
        </p:spPr>
      </p:pic>
      <p:sp>
        <p:nvSpPr>
          <p:cNvPr id="86" name="Google Shape;86;p13"/>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7" name="Google Shape;87;p13"/>
          <p:cNvSpPr txBox="1"/>
          <p:nvPr/>
        </p:nvSpPr>
        <p:spPr>
          <a:xfrm>
            <a:off x="3000613" y="2324100"/>
            <a:ext cx="6190773" cy="754260"/>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5400" b="1" i="0" u="none" strike="noStrike" cap="none">
                <a:solidFill>
                  <a:srgbClr val="F8FAFC"/>
                </a:solidFill>
                <a:latin typeface="Space Grotesk"/>
                <a:ea typeface="Space Grotesk"/>
                <a:cs typeface="Space Grotesk"/>
                <a:sym typeface="Space Grotesk"/>
              </a:rPr>
              <a:t>NeuroForge </a:t>
            </a:r>
            <a:r>
              <a:rPr lang="en-US" sz="5400" b="1" i="0" u="none" strike="noStrike" cap="none">
                <a:solidFill>
                  <a:srgbClr val="06B6D4"/>
                </a:solidFill>
                <a:latin typeface="Space Grotesk"/>
                <a:ea typeface="Space Grotesk"/>
                <a:cs typeface="Space Grotesk"/>
                <a:sym typeface="Space Grotesk"/>
              </a:rPr>
              <a:t>Nexus</a:t>
            </a:r>
            <a:endParaRPr/>
          </a:p>
        </p:txBody>
      </p:sp>
      <p:sp>
        <p:nvSpPr>
          <p:cNvPr id="88" name="Google Shape;88;p13"/>
          <p:cNvSpPr txBox="1"/>
          <p:nvPr/>
        </p:nvSpPr>
        <p:spPr>
          <a:xfrm>
            <a:off x="2062162" y="3268860"/>
            <a:ext cx="8067675" cy="426690"/>
          </a:xfrm>
          <a:prstGeom prst="rect">
            <a:avLst/>
          </a:prstGeom>
          <a:noFill/>
          <a:ln>
            <a:noFill/>
          </a:ln>
        </p:spPr>
        <p:txBody>
          <a:bodyPr spcFirstLastPara="1" wrap="square" lIns="0" tIns="0" rIns="0" bIns="0" anchor="t" anchorCtr="0">
            <a:spAutoFit/>
          </a:bodyPr>
          <a:lstStyle/>
          <a:p>
            <a:pPr marL="0" marR="0" lvl="0" indent="0" algn="ctr" rtl="0">
              <a:lnSpc>
                <a:spcPct val="159952"/>
              </a:lnSpc>
              <a:spcBef>
                <a:spcPts val="0"/>
              </a:spcBef>
              <a:spcAft>
                <a:spcPts val="0"/>
              </a:spcAft>
              <a:buNone/>
            </a:pPr>
            <a:r>
              <a:rPr lang="en-US" sz="2100" b="0" i="0" u="none" strike="noStrike" cap="none" dirty="0">
                <a:solidFill>
                  <a:srgbClr val="94A3B8"/>
                </a:solidFill>
                <a:latin typeface="Inter"/>
                <a:ea typeface="Inter"/>
                <a:cs typeface="Inter"/>
                <a:sym typeface="Inter"/>
              </a:rPr>
              <a:t>Enterprise Software Lifecycle and DevOps Management System</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2"/>
        <p:cNvGrpSpPr/>
        <p:nvPr/>
      </p:nvGrpSpPr>
      <p:grpSpPr>
        <a:xfrm>
          <a:off x="0" y="0"/>
          <a:ext cx="0" cy="0"/>
          <a:chOff x="0" y="0"/>
          <a:chExt cx="0" cy="0"/>
        </a:xfrm>
      </p:grpSpPr>
      <p:pic>
        <p:nvPicPr>
          <p:cNvPr id="93" name="Google Shape;93;p1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4" name="Google Shape;94;p14" descr="image.png"/>
          <p:cNvPicPr preferRelativeResize="0"/>
          <p:nvPr/>
        </p:nvPicPr>
        <p:blipFill rotWithShape="1">
          <a:blip r:embed="rId4">
            <a:alphaModFix/>
          </a:blip>
          <a:srcRect/>
          <a:stretch/>
        </p:blipFill>
        <p:spPr>
          <a:xfrm>
            <a:off x="571500" y="1266825"/>
            <a:ext cx="3492400" cy="5105400"/>
          </a:xfrm>
          <a:prstGeom prst="rect">
            <a:avLst/>
          </a:prstGeom>
          <a:noFill/>
          <a:ln>
            <a:noFill/>
          </a:ln>
        </p:spPr>
      </p:pic>
      <p:pic>
        <p:nvPicPr>
          <p:cNvPr id="95" name="Google Shape;95;p14" descr="image.png"/>
          <p:cNvPicPr preferRelativeResize="0"/>
          <p:nvPr/>
        </p:nvPicPr>
        <p:blipFill rotWithShape="1">
          <a:blip r:embed="rId5">
            <a:alphaModFix/>
          </a:blip>
          <a:srcRect/>
          <a:stretch/>
        </p:blipFill>
        <p:spPr>
          <a:xfrm>
            <a:off x="4349650" y="1266825"/>
            <a:ext cx="3492549" cy="5105400"/>
          </a:xfrm>
          <a:prstGeom prst="rect">
            <a:avLst/>
          </a:prstGeom>
          <a:noFill/>
          <a:ln>
            <a:noFill/>
          </a:ln>
        </p:spPr>
      </p:pic>
      <p:pic>
        <p:nvPicPr>
          <p:cNvPr id="96" name="Google Shape;96;p14" descr="image.png"/>
          <p:cNvPicPr preferRelativeResize="0"/>
          <p:nvPr/>
        </p:nvPicPr>
        <p:blipFill rotWithShape="1">
          <a:blip r:embed="rId6">
            <a:alphaModFix/>
          </a:blip>
          <a:srcRect/>
          <a:stretch/>
        </p:blipFill>
        <p:spPr>
          <a:xfrm>
            <a:off x="8127950" y="1266825"/>
            <a:ext cx="3492400" cy="5105400"/>
          </a:xfrm>
          <a:prstGeom prst="rect">
            <a:avLst/>
          </a:prstGeom>
          <a:noFill/>
          <a:ln>
            <a:noFill/>
          </a:ln>
        </p:spPr>
      </p:pic>
      <p:sp>
        <p:nvSpPr>
          <p:cNvPr id="97" name="Google Shape;97;p14"/>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8" name="Google Shape;98;p14"/>
          <p:cNvSpPr txBox="1"/>
          <p:nvPr/>
        </p:nvSpPr>
        <p:spPr>
          <a:xfrm>
            <a:off x="866775" y="2171700"/>
            <a:ext cx="304694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6B6D4"/>
                </a:solidFill>
                <a:latin typeface="Space Grotesk"/>
                <a:ea typeface="Space Grotesk"/>
                <a:cs typeface="Space Grotesk"/>
                <a:sym typeface="Space Grotesk"/>
              </a:rPr>
              <a:t>What We Built</a:t>
            </a:r>
            <a:endParaRPr/>
          </a:p>
        </p:txBody>
      </p:sp>
      <p:sp>
        <p:nvSpPr>
          <p:cNvPr id="99" name="Google Shape;99;p14"/>
          <p:cNvSpPr txBox="1"/>
          <p:nvPr/>
        </p:nvSpPr>
        <p:spPr>
          <a:xfrm>
            <a:off x="866775" y="2609850"/>
            <a:ext cx="2901850" cy="1447353"/>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94A3B8"/>
                </a:solidFill>
                <a:latin typeface="Inter"/>
                <a:ea typeface="Inter"/>
                <a:cs typeface="Inter"/>
                <a:sym typeface="Inter"/>
              </a:rPr>
              <a:t>NeuroForge Nexus is an all-in-one centralized workspace designed to help software teams manage their entire development process from start to finish.</a:t>
            </a:r>
            <a:endParaRPr/>
          </a:p>
        </p:txBody>
      </p:sp>
      <p:sp>
        <p:nvSpPr>
          <p:cNvPr id="100" name="Google Shape;100;p14"/>
          <p:cNvSpPr txBox="1"/>
          <p:nvPr/>
        </p:nvSpPr>
        <p:spPr>
          <a:xfrm>
            <a:off x="4644925" y="2171700"/>
            <a:ext cx="3047099"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6B6D4"/>
                </a:solidFill>
                <a:latin typeface="Space Grotesk"/>
                <a:ea typeface="Space Grotesk"/>
                <a:cs typeface="Space Grotesk"/>
                <a:sym typeface="Space Grotesk"/>
              </a:rPr>
              <a:t>The Problem It Solves</a:t>
            </a:r>
            <a:endParaRPr/>
          </a:p>
        </p:txBody>
      </p:sp>
      <p:sp>
        <p:nvSpPr>
          <p:cNvPr id="101" name="Google Shape;101;p14"/>
          <p:cNvSpPr txBox="1"/>
          <p:nvPr/>
        </p:nvSpPr>
        <p:spPr>
          <a:xfrm>
            <a:off x="4644925" y="2609850"/>
            <a:ext cx="2901999" cy="1736824"/>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94A3B8"/>
                </a:solidFill>
                <a:latin typeface="Inter"/>
                <a:ea typeface="Inter"/>
                <a:cs typeface="Inter"/>
                <a:sym typeface="Inter"/>
              </a:rPr>
              <a:t>Instead of teams juggling multiple different tools for planning tasks, testing code, and launching products, our platform brings everything together into a single, unified dashboard.</a:t>
            </a:r>
            <a:endParaRPr/>
          </a:p>
        </p:txBody>
      </p:sp>
      <p:sp>
        <p:nvSpPr>
          <p:cNvPr id="102" name="Google Shape;102;p14"/>
          <p:cNvSpPr txBox="1"/>
          <p:nvPr/>
        </p:nvSpPr>
        <p:spPr>
          <a:xfrm>
            <a:off x="8423225" y="2171700"/>
            <a:ext cx="3046943" cy="3238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6B6D4"/>
                </a:solidFill>
                <a:latin typeface="Space Grotesk"/>
                <a:ea typeface="Space Grotesk"/>
                <a:cs typeface="Space Grotesk"/>
                <a:sym typeface="Space Grotesk"/>
              </a:rPr>
              <a:t>How It Helps</a:t>
            </a:r>
            <a:endParaRPr/>
          </a:p>
        </p:txBody>
      </p:sp>
      <p:sp>
        <p:nvSpPr>
          <p:cNvPr id="103" name="Google Shape;103;p14"/>
          <p:cNvSpPr txBox="1"/>
          <p:nvPr/>
        </p:nvSpPr>
        <p:spPr>
          <a:xfrm>
            <a:off x="8423225" y="2609850"/>
            <a:ext cx="2901850" cy="2026294"/>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94A3B8"/>
                </a:solidFill>
                <a:latin typeface="Inter"/>
                <a:ea typeface="Inter"/>
                <a:cs typeface="Inter"/>
                <a:sym typeface="Inter"/>
              </a:rPr>
              <a:t>It creates a smooth, automated pipeline where managers can track team progress, developers can safely test their code, and operations teams can monitor the live application’s health without missing a beat.</a:t>
            </a:r>
            <a:endParaRPr/>
          </a:p>
        </p:txBody>
      </p:sp>
      <p:pic>
        <p:nvPicPr>
          <p:cNvPr id="104" name="Google Shape;104;p14" descr="image.png"/>
          <p:cNvPicPr preferRelativeResize="0"/>
          <p:nvPr/>
        </p:nvPicPr>
        <p:blipFill rotWithShape="1">
          <a:blip r:embed="rId7">
            <a:alphaModFix/>
          </a:blip>
          <a:srcRect/>
          <a:stretch/>
        </p:blipFill>
        <p:spPr>
          <a:xfrm>
            <a:off x="866775" y="1600200"/>
            <a:ext cx="390525" cy="342900"/>
          </a:xfrm>
          <a:prstGeom prst="rect">
            <a:avLst/>
          </a:prstGeom>
          <a:noFill/>
          <a:ln>
            <a:noFill/>
          </a:ln>
        </p:spPr>
      </p:pic>
      <p:pic>
        <p:nvPicPr>
          <p:cNvPr id="105" name="Google Shape;105;p14" descr="image.png"/>
          <p:cNvPicPr preferRelativeResize="0"/>
          <p:nvPr/>
        </p:nvPicPr>
        <p:blipFill rotWithShape="1">
          <a:blip r:embed="rId8">
            <a:alphaModFix/>
          </a:blip>
          <a:srcRect/>
          <a:stretch/>
        </p:blipFill>
        <p:spPr>
          <a:xfrm>
            <a:off x="4644925" y="1600200"/>
            <a:ext cx="342900" cy="342900"/>
          </a:xfrm>
          <a:prstGeom prst="rect">
            <a:avLst/>
          </a:prstGeom>
          <a:noFill/>
          <a:ln>
            <a:noFill/>
          </a:ln>
        </p:spPr>
      </p:pic>
      <p:pic>
        <p:nvPicPr>
          <p:cNvPr id="106" name="Google Shape;106;p14" descr="image.png"/>
          <p:cNvPicPr preferRelativeResize="0"/>
          <p:nvPr/>
        </p:nvPicPr>
        <p:blipFill rotWithShape="1">
          <a:blip r:embed="rId9">
            <a:alphaModFix/>
          </a:blip>
          <a:srcRect/>
          <a:stretch/>
        </p:blipFill>
        <p:spPr>
          <a:xfrm>
            <a:off x="8423225" y="1600200"/>
            <a:ext cx="390525" cy="342900"/>
          </a:xfrm>
          <a:prstGeom prst="rect">
            <a:avLst/>
          </a:prstGeom>
          <a:noFill/>
          <a:ln>
            <a:noFill/>
          </a:ln>
        </p:spPr>
      </p:pic>
      <p:sp>
        <p:nvSpPr>
          <p:cNvPr id="107" name="Google Shape;107;p14"/>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Introduction</a:t>
            </a:r>
            <a:endParaRPr/>
          </a:p>
        </p:txBody>
      </p:sp>
      <p:sp>
        <p:nvSpPr>
          <p:cNvPr id="108" name="Google Shape;108;p14"/>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12"/>
        <p:cNvGrpSpPr/>
        <p:nvPr/>
      </p:nvGrpSpPr>
      <p:grpSpPr>
        <a:xfrm>
          <a:off x="0" y="0"/>
          <a:ext cx="0" cy="0"/>
          <a:chOff x="0" y="0"/>
          <a:chExt cx="0" cy="0"/>
        </a:xfrm>
      </p:grpSpPr>
      <p:pic>
        <p:nvPicPr>
          <p:cNvPr id="113" name="Google Shape;113;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4" name="Google Shape;114;p15" descr="image.png"/>
          <p:cNvPicPr preferRelativeResize="0"/>
          <p:nvPr/>
        </p:nvPicPr>
        <p:blipFill rotWithShape="1">
          <a:blip r:embed="rId4">
            <a:alphaModFix/>
          </a:blip>
          <a:srcRect/>
          <a:stretch/>
        </p:blipFill>
        <p:spPr>
          <a:xfrm>
            <a:off x="571500" y="1266825"/>
            <a:ext cx="3492400" cy="3550294"/>
          </a:xfrm>
          <a:prstGeom prst="rect">
            <a:avLst/>
          </a:prstGeom>
          <a:noFill/>
          <a:ln>
            <a:noFill/>
          </a:ln>
        </p:spPr>
      </p:pic>
      <p:pic>
        <p:nvPicPr>
          <p:cNvPr id="115" name="Google Shape;115;p15" descr="image.png"/>
          <p:cNvPicPr preferRelativeResize="0"/>
          <p:nvPr/>
        </p:nvPicPr>
        <p:blipFill rotWithShape="1">
          <a:blip r:embed="rId5">
            <a:alphaModFix/>
          </a:blip>
          <a:srcRect/>
          <a:stretch/>
        </p:blipFill>
        <p:spPr>
          <a:xfrm>
            <a:off x="4349650" y="1266825"/>
            <a:ext cx="3492549" cy="3550294"/>
          </a:xfrm>
          <a:prstGeom prst="rect">
            <a:avLst/>
          </a:prstGeom>
          <a:noFill/>
          <a:ln>
            <a:noFill/>
          </a:ln>
        </p:spPr>
      </p:pic>
      <p:pic>
        <p:nvPicPr>
          <p:cNvPr id="116" name="Google Shape;116;p15" descr="image.png"/>
          <p:cNvPicPr preferRelativeResize="0"/>
          <p:nvPr/>
        </p:nvPicPr>
        <p:blipFill rotWithShape="1">
          <a:blip r:embed="rId6">
            <a:alphaModFix/>
          </a:blip>
          <a:srcRect/>
          <a:stretch/>
        </p:blipFill>
        <p:spPr>
          <a:xfrm>
            <a:off x="8127950" y="1266825"/>
            <a:ext cx="3492400" cy="3550294"/>
          </a:xfrm>
          <a:prstGeom prst="rect">
            <a:avLst/>
          </a:prstGeom>
          <a:noFill/>
          <a:ln>
            <a:noFill/>
          </a:ln>
        </p:spPr>
      </p:pic>
      <p:sp>
        <p:nvSpPr>
          <p:cNvPr id="117" name="Google Shape;117;p15"/>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18" name="Google Shape;118;p15"/>
          <p:cNvSpPr txBox="1"/>
          <p:nvPr/>
        </p:nvSpPr>
        <p:spPr>
          <a:xfrm>
            <a:off x="866775" y="1590675"/>
            <a:ext cx="3046943" cy="647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a:solidFill>
                  <a:srgbClr val="06B6D4"/>
                </a:solidFill>
                <a:latin typeface="Space Grotesk"/>
                <a:ea typeface="Space Grotesk"/>
                <a:cs typeface="Space Grotesk"/>
                <a:sym typeface="Space Grotesk"/>
              </a:rPr>
              <a:t>Secure Access Management</a:t>
            </a:r>
            <a:endParaRPr/>
          </a:p>
        </p:txBody>
      </p:sp>
      <p:sp>
        <p:nvSpPr>
          <p:cNvPr id="119" name="Google Shape;119;p15"/>
          <p:cNvSpPr txBox="1"/>
          <p:nvPr/>
        </p:nvSpPr>
        <p:spPr>
          <a:xfrm>
            <a:off x="866775" y="2352675"/>
            <a:ext cx="2901850" cy="1447353"/>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94A3B8"/>
                </a:solidFill>
                <a:latin typeface="Inter"/>
                <a:ea typeface="Inter"/>
                <a:cs typeface="Inter"/>
                <a:sym typeface="Inter"/>
              </a:rPr>
              <a:t>The platform uses a strict Role-Based Access Control (RBAC) system powered by Keycloak to ensure everyone has the right level of access to the workspace.</a:t>
            </a:r>
            <a:endParaRPr/>
          </a:p>
        </p:txBody>
      </p:sp>
      <p:sp>
        <p:nvSpPr>
          <p:cNvPr id="120" name="Google Shape;120;p15"/>
          <p:cNvSpPr txBox="1"/>
          <p:nvPr/>
        </p:nvSpPr>
        <p:spPr>
          <a:xfrm>
            <a:off x="4644925" y="1590675"/>
            <a:ext cx="3047099"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a:solidFill>
                  <a:srgbClr val="06B6D4"/>
                </a:solidFill>
                <a:latin typeface="Space Grotesk"/>
                <a:ea typeface="Space Grotesk"/>
                <a:cs typeface="Space Grotesk"/>
                <a:sym typeface="Space Grotesk"/>
              </a:rPr>
              <a:t>Administrator Role </a:t>
            </a:r>
            <a:br>
              <a:rPr lang="en-US" sz="1800" b="0" i="0" u="none" strike="noStrike" cap="none" dirty="0">
                <a:solidFill>
                  <a:schemeClr val="dk1"/>
                </a:solidFill>
                <a:latin typeface="Calibri"/>
                <a:ea typeface="Calibri"/>
                <a:cs typeface="Calibri"/>
                <a:sym typeface="Calibri"/>
              </a:rPr>
            </a:br>
            <a:r>
              <a:rPr lang="en-US" sz="1950" b="1" i="0" u="none" strike="noStrike" cap="none" dirty="0">
                <a:solidFill>
                  <a:schemeClr val="accent1">
                    <a:lumMod val="60000"/>
                    <a:lumOff val="40000"/>
                  </a:schemeClr>
                </a:solidFill>
                <a:latin typeface="Space Grotesk"/>
                <a:ea typeface="Space Grotesk"/>
                <a:cs typeface="Space Grotesk"/>
                <a:sym typeface="Space Grotesk"/>
              </a:rPr>
              <a:t>(Full Control)</a:t>
            </a:r>
            <a:endParaRPr dirty="0">
              <a:solidFill>
                <a:schemeClr val="accent1">
                  <a:lumMod val="60000"/>
                  <a:lumOff val="40000"/>
                </a:schemeClr>
              </a:solidFill>
            </a:endParaRPr>
          </a:p>
        </p:txBody>
      </p:sp>
      <p:sp>
        <p:nvSpPr>
          <p:cNvPr id="121" name="Google Shape;121;p15"/>
          <p:cNvSpPr txBox="1"/>
          <p:nvPr/>
        </p:nvSpPr>
        <p:spPr>
          <a:xfrm>
            <a:off x="4644925" y="2352675"/>
            <a:ext cx="2901999" cy="2026294"/>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dirty="0">
                <a:solidFill>
                  <a:srgbClr val="94A3B8"/>
                </a:solidFill>
                <a:latin typeface="Inter"/>
                <a:ea typeface="Inter"/>
                <a:cs typeface="Inter"/>
                <a:sym typeface="Inter"/>
              </a:rPr>
              <a:t>Admins and Project Manager act as the controllers of the platform. They have the exclusive authority to create new projects, build teams, assign specific people to those teams, and make global edits to the system settings.</a:t>
            </a:r>
            <a:endParaRPr dirty="0"/>
          </a:p>
        </p:txBody>
      </p:sp>
      <p:sp>
        <p:nvSpPr>
          <p:cNvPr id="122" name="Google Shape;122;p15"/>
          <p:cNvSpPr txBox="1"/>
          <p:nvPr/>
        </p:nvSpPr>
        <p:spPr>
          <a:xfrm>
            <a:off x="8423225" y="1590675"/>
            <a:ext cx="3046943" cy="60016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950" b="1" i="0" u="none" strike="noStrike" cap="none" dirty="0">
                <a:solidFill>
                  <a:schemeClr val="accent5"/>
                </a:solidFill>
                <a:latin typeface="Space Grotesk"/>
                <a:ea typeface="Space Grotesk"/>
                <a:cs typeface="Space Grotesk"/>
                <a:sym typeface="Space Grotesk"/>
              </a:rPr>
              <a:t>Team Member Roles </a:t>
            </a:r>
            <a:br>
              <a:rPr lang="en-US" sz="1800" b="0" i="0" u="none" strike="noStrike" cap="none" dirty="0">
                <a:solidFill>
                  <a:schemeClr val="accent1">
                    <a:lumMod val="60000"/>
                    <a:lumOff val="40000"/>
                  </a:schemeClr>
                </a:solidFill>
                <a:latin typeface="Calibri"/>
                <a:ea typeface="Calibri"/>
                <a:cs typeface="Calibri"/>
                <a:sym typeface="Calibri"/>
              </a:rPr>
            </a:br>
            <a:r>
              <a:rPr lang="en-US" sz="1950" b="1" i="0" u="none" strike="noStrike" cap="none" dirty="0">
                <a:solidFill>
                  <a:schemeClr val="accent1">
                    <a:lumMod val="60000"/>
                    <a:lumOff val="40000"/>
                  </a:schemeClr>
                </a:solidFill>
                <a:latin typeface="Space Grotesk"/>
                <a:ea typeface="Space Grotesk"/>
                <a:cs typeface="Space Grotesk"/>
                <a:sym typeface="Space Grotesk"/>
              </a:rPr>
              <a:t>(Restricted Access)</a:t>
            </a:r>
            <a:endParaRPr dirty="0">
              <a:solidFill>
                <a:schemeClr val="accent1">
                  <a:lumMod val="60000"/>
                  <a:lumOff val="40000"/>
                </a:schemeClr>
              </a:solidFill>
            </a:endParaRPr>
          </a:p>
        </p:txBody>
      </p:sp>
      <p:sp>
        <p:nvSpPr>
          <p:cNvPr id="123" name="Google Shape;123;p15"/>
          <p:cNvSpPr txBox="1"/>
          <p:nvPr/>
        </p:nvSpPr>
        <p:spPr>
          <a:xfrm>
            <a:off x="8423225" y="2352675"/>
            <a:ext cx="2901850" cy="1157882"/>
          </a:xfrm>
          <a:prstGeom prst="rect">
            <a:avLst/>
          </a:prstGeom>
          <a:noFill/>
          <a:ln>
            <a:noFill/>
          </a:ln>
        </p:spPr>
        <p:txBody>
          <a:bodyPr spcFirstLastPara="1" wrap="square" lIns="0" tIns="0" rIns="0" bIns="0" anchor="t" anchorCtr="0">
            <a:spAutoFit/>
          </a:bodyPr>
          <a:lstStyle/>
          <a:p>
            <a:pPr marL="0" marR="0" lvl="0" indent="0" algn="l" rtl="0">
              <a:lnSpc>
                <a:spcPct val="159929"/>
              </a:lnSpc>
              <a:spcBef>
                <a:spcPts val="0"/>
              </a:spcBef>
              <a:spcAft>
                <a:spcPts val="0"/>
              </a:spcAft>
              <a:buNone/>
            </a:pPr>
            <a:r>
              <a:rPr lang="en-US" sz="1425" b="0" i="0" u="none" strike="noStrike" cap="none">
                <a:solidFill>
                  <a:srgbClr val="94A3B8"/>
                </a:solidFill>
                <a:latin typeface="Inter"/>
                <a:ea typeface="Inter"/>
                <a:cs typeface="Inter"/>
                <a:sym typeface="Inter"/>
              </a:rPr>
              <a:t>Other roles have tailored, restricted access. They cannot alter team structures or edit core project settings.</a:t>
            </a:r>
            <a:endParaRPr/>
          </a:p>
        </p:txBody>
      </p:sp>
      <p:sp>
        <p:nvSpPr>
          <p:cNvPr id="124" name="Google Shape;124;p15"/>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Project Overview</a:t>
            </a:r>
            <a:endParaRPr/>
          </a:p>
        </p:txBody>
      </p:sp>
      <p:sp>
        <p:nvSpPr>
          <p:cNvPr id="125" name="Google Shape;125;p15"/>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29"/>
        <p:cNvGrpSpPr/>
        <p:nvPr/>
      </p:nvGrpSpPr>
      <p:grpSpPr>
        <a:xfrm>
          <a:off x="0" y="0"/>
          <a:ext cx="0" cy="0"/>
          <a:chOff x="0" y="0"/>
          <a:chExt cx="0" cy="0"/>
        </a:xfrm>
      </p:grpSpPr>
      <p:pic>
        <p:nvPicPr>
          <p:cNvPr id="130" name="Google Shape;130;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1" name="Google Shape;131;p16" descr="image.png"/>
          <p:cNvPicPr preferRelativeResize="0"/>
          <p:nvPr/>
        </p:nvPicPr>
        <p:blipFill rotWithShape="1">
          <a:blip r:embed="rId4">
            <a:alphaModFix/>
          </a:blip>
          <a:srcRect/>
          <a:stretch/>
        </p:blipFill>
        <p:spPr>
          <a:xfrm>
            <a:off x="571500" y="1266825"/>
            <a:ext cx="3555950" cy="2041921"/>
          </a:xfrm>
          <a:prstGeom prst="rect">
            <a:avLst/>
          </a:prstGeom>
          <a:noFill/>
          <a:ln>
            <a:noFill/>
          </a:ln>
        </p:spPr>
      </p:pic>
      <p:pic>
        <p:nvPicPr>
          <p:cNvPr id="132" name="Google Shape;132;p16" descr="image.png"/>
          <p:cNvPicPr preferRelativeResize="0"/>
          <p:nvPr/>
        </p:nvPicPr>
        <p:blipFill rotWithShape="1">
          <a:blip r:embed="rId5">
            <a:alphaModFix/>
          </a:blip>
          <a:srcRect/>
          <a:stretch/>
        </p:blipFill>
        <p:spPr>
          <a:xfrm>
            <a:off x="4317950" y="1266825"/>
            <a:ext cx="3555950" cy="2041921"/>
          </a:xfrm>
          <a:prstGeom prst="rect">
            <a:avLst/>
          </a:prstGeom>
          <a:noFill/>
          <a:ln>
            <a:noFill/>
          </a:ln>
        </p:spPr>
      </p:pic>
      <p:pic>
        <p:nvPicPr>
          <p:cNvPr id="133" name="Google Shape;133;p16" descr="image.png"/>
          <p:cNvPicPr preferRelativeResize="0"/>
          <p:nvPr/>
        </p:nvPicPr>
        <p:blipFill rotWithShape="1">
          <a:blip r:embed="rId6">
            <a:alphaModFix/>
          </a:blip>
          <a:srcRect/>
          <a:stretch/>
        </p:blipFill>
        <p:spPr>
          <a:xfrm>
            <a:off x="8064400" y="1266825"/>
            <a:ext cx="3556099" cy="2041921"/>
          </a:xfrm>
          <a:prstGeom prst="rect">
            <a:avLst/>
          </a:prstGeom>
          <a:noFill/>
          <a:ln>
            <a:noFill/>
          </a:ln>
        </p:spPr>
      </p:pic>
      <p:pic>
        <p:nvPicPr>
          <p:cNvPr id="134" name="Google Shape;134;p16" descr="image.png"/>
          <p:cNvPicPr preferRelativeResize="0"/>
          <p:nvPr/>
        </p:nvPicPr>
        <p:blipFill rotWithShape="1">
          <a:blip r:embed="rId7">
            <a:alphaModFix/>
          </a:blip>
          <a:srcRect/>
          <a:stretch/>
        </p:blipFill>
        <p:spPr>
          <a:xfrm>
            <a:off x="571500" y="3499246"/>
            <a:ext cx="3555950" cy="2041921"/>
          </a:xfrm>
          <a:prstGeom prst="rect">
            <a:avLst/>
          </a:prstGeom>
          <a:noFill/>
          <a:ln>
            <a:noFill/>
          </a:ln>
        </p:spPr>
      </p:pic>
      <p:pic>
        <p:nvPicPr>
          <p:cNvPr id="135" name="Google Shape;135;p16" descr="image.png"/>
          <p:cNvPicPr preferRelativeResize="0"/>
          <p:nvPr/>
        </p:nvPicPr>
        <p:blipFill rotWithShape="1">
          <a:blip r:embed="rId8">
            <a:alphaModFix/>
          </a:blip>
          <a:srcRect/>
          <a:stretch/>
        </p:blipFill>
        <p:spPr>
          <a:xfrm>
            <a:off x="4317950" y="3499246"/>
            <a:ext cx="3555950" cy="2041921"/>
          </a:xfrm>
          <a:prstGeom prst="rect">
            <a:avLst/>
          </a:prstGeom>
          <a:noFill/>
          <a:ln>
            <a:noFill/>
          </a:ln>
        </p:spPr>
      </p:pic>
      <p:pic>
        <p:nvPicPr>
          <p:cNvPr id="136" name="Google Shape;136;p16" descr="image.png"/>
          <p:cNvPicPr preferRelativeResize="0"/>
          <p:nvPr/>
        </p:nvPicPr>
        <p:blipFill rotWithShape="1">
          <a:blip r:embed="rId9">
            <a:alphaModFix/>
          </a:blip>
          <a:srcRect/>
          <a:stretch/>
        </p:blipFill>
        <p:spPr>
          <a:xfrm>
            <a:off x="8064400" y="3499246"/>
            <a:ext cx="3556099" cy="2041921"/>
          </a:xfrm>
          <a:prstGeom prst="rect">
            <a:avLst/>
          </a:prstGeom>
          <a:noFill/>
          <a:ln>
            <a:noFill/>
          </a:ln>
        </p:spPr>
      </p:pic>
      <p:sp>
        <p:nvSpPr>
          <p:cNvPr id="137" name="Google Shape;137;p16"/>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38" name="Google Shape;138;p16"/>
          <p:cNvSpPr txBox="1"/>
          <p:nvPr/>
        </p:nvSpPr>
        <p:spPr>
          <a:xfrm>
            <a:off x="1104900" y="1514475"/>
            <a:ext cx="2913645" cy="2476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0B981"/>
                </a:solidFill>
                <a:latin typeface="Space Grotesk"/>
                <a:ea typeface="Space Grotesk"/>
                <a:cs typeface="Space Grotesk"/>
                <a:sym typeface="Space Grotesk"/>
              </a:rPr>
              <a:t>Secure Identity &amp; Access</a:t>
            </a:r>
            <a:endParaRPr/>
          </a:p>
        </p:txBody>
      </p:sp>
      <p:sp>
        <p:nvSpPr>
          <p:cNvPr id="139" name="Google Shape;139;p16"/>
          <p:cNvSpPr txBox="1"/>
          <p:nvPr/>
        </p:nvSpPr>
        <p:spPr>
          <a:xfrm>
            <a:off x="819150" y="1838325"/>
            <a:ext cx="306065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Powered by Keycloak for strict Role-Based Access Control (RBAC) across Admin, PM, Dev, and QA roles.</a:t>
            </a:r>
            <a:endParaRPr/>
          </a:p>
        </p:txBody>
      </p:sp>
      <p:sp>
        <p:nvSpPr>
          <p:cNvPr id="140" name="Google Shape;140;p16"/>
          <p:cNvSpPr txBox="1"/>
          <p:nvPr/>
        </p:nvSpPr>
        <p:spPr>
          <a:xfrm>
            <a:off x="4851350" y="1514475"/>
            <a:ext cx="2913645" cy="495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0B981"/>
                </a:solidFill>
                <a:latin typeface="Space Grotesk"/>
                <a:ea typeface="Space Grotesk"/>
                <a:cs typeface="Space Grotesk"/>
                <a:sym typeface="Space Grotesk"/>
              </a:rPr>
              <a:t>Agile Tracking &amp; Event Streaming</a:t>
            </a:r>
            <a:endParaRPr/>
          </a:p>
        </p:txBody>
      </p:sp>
      <p:sp>
        <p:nvSpPr>
          <p:cNvPr id="141" name="Google Shape;141;p16"/>
          <p:cNvSpPr txBox="1"/>
          <p:nvPr/>
        </p:nvSpPr>
        <p:spPr>
          <a:xfrm>
            <a:off x="4565600" y="2085975"/>
            <a:ext cx="3060650" cy="9751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Features interactive Kanban boards with a 94% burndown success rate, backed by Apache Kafka for real-time task notifications.</a:t>
            </a:r>
            <a:endParaRPr/>
          </a:p>
        </p:txBody>
      </p:sp>
      <p:sp>
        <p:nvSpPr>
          <p:cNvPr id="142" name="Google Shape;142;p16"/>
          <p:cNvSpPr txBox="1"/>
          <p:nvPr/>
        </p:nvSpPr>
        <p:spPr>
          <a:xfrm>
            <a:off x="8578750" y="1514475"/>
            <a:ext cx="2933804" cy="2476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0B981"/>
                </a:solidFill>
                <a:latin typeface="Space Grotesk"/>
                <a:ea typeface="Space Grotesk"/>
                <a:cs typeface="Space Grotesk"/>
                <a:sym typeface="Space Grotesk"/>
              </a:rPr>
              <a:t>Automated CI/CD Pipelines</a:t>
            </a:r>
            <a:endParaRPr/>
          </a:p>
        </p:txBody>
      </p:sp>
      <p:sp>
        <p:nvSpPr>
          <p:cNvPr id="143" name="Google Shape;143;p16"/>
          <p:cNvSpPr txBox="1"/>
          <p:nvPr/>
        </p:nvSpPr>
        <p:spPr>
          <a:xfrm>
            <a:off x="8312050" y="1838325"/>
            <a:ext cx="3060799" cy="9751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Integrates Jenkins and GitHub Actions for seamless build and deployment tracking, achieving a 97.4% success rate and rapid 4.2-minute deploys.</a:t>
            </a:r>
            <a:endParaRPr/>
          </a:p>
        </p:txBody>
      </p:sp>
      <p:sp>
        <p:nvSpPr>
          <p:cNvPr id="144" name="Google Shape;144;p16"/>
          <p:cNvSpPr txBox="1"/>
          <p:nvPr/>
        </p:nvSpPr>
        <p:spPr>
          <a:xfrm>
            <a:off x="1104900" y="3746896"/>
            <a:ext cx="2913645" cy="2476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0B981"/>
                </a:solidFill>
                <a:latin typeface="Space Grotesk"/>
                <a:ea typeface="Space Grotesk"/>
                <a:cs typeface="Space Grotesk"/>
                <a:sym typeface="Space Grotesk"/>
              </a:rPr>
              <a:t>DevOps Observability</a:t>
            </a:r>
            <a:endParaRPr/>
          </a:p>
        </p:txBody>
      </p:sp>
      <p:sp>
        <p:nvSpPr>
          <p:cNvPr id="145" name="Google Shape;145;p16"/>
          <p:cNvSpPr txBox="1"/>
          <p:nvPr/>
        </p:nvSpPr>
        <p:spPr>
          <a:xfrm>
            <a:off x="819150" y="4070746"/>
            <a:ext cx="3060650" cy="73134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Utilizes Prometheus, Grafana, and the ELK Stack to continuously monitor service health, CPU, and memory usage.</a:t>
            </a:r>
            <a:endParaRPr/>
          </a:p>
        </p:txBody>
      </p:sp>
      <p:sp>
        <p:nvSpPr>
          <p:cNvPr id="146" name="Google Shape;146;p16"/>
          <p:cNvSpPr txBox="1"/>
          <p:nvPr/>
        </p:nvSpPr>
        <p:spPr>
          <a:xfrm>
            <a:off x="4851350" y="3746896"/>
            <a:ext cx="2913645" cy="4953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0B981"/>
                </a:solidFill>
                <a:latin typeface="Space Grotesk"/>
                <a:ea typeface="Space Grotesk"/>
                <a:cs typeface="Space Grotesk"/>
                <a:sym typeface="Space Grotesk"/>
              </a:rPr>
              <a:t>Advanced Release Management</a:t>
            </a:r>
            <a:endParaRPr/>
          </a:p>
        </p:txBody>
      </p:sp>
      <p:sp>
        <p:nvSpPr>
          <p:cNvPr id="147" name="Google Shape;147;p16"/>
          <p:cNvSpPr txBox="1"/>
          <p:nvPr/>
        </p:nvSpPr>
        <p:spPr>
          <a:xfrm>
            <a:off x="4565600" y="4318396"/>
            <a:ext cx="3060650" cy="9751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Supports Blue-Green deployments and instant rollback capabilities to maintain a lightning-fast 12-minute MTTR (Mean Time To Recovery).</a:t>
            </a:r>
            <a:endParaRPr/>
          </a:p>
        </p:txBody>
      </p:sp>
      <p:sp>
        <p:nvSpPr>
          <p:cNvPr id="148" name="Google Shape;148;p16"/>
          <p:cNvSpPr txBox="1"/>
          <p:nvPr/>
        </p:nvSpPr>
        <p:spPr>
          <a:xfrm>
            <a:off x="8645425" y="3746896"/>
            <a:ext cx="2863795" cy="24765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1500" b="1" i="0" u="none" strike="noStrike" cap="none">
                <a:solidFill>
                  <a:srgbClr val="10B981"/>
                </a:solidFill>
                <a:latin typeface="Space Grotesk"/>
                <a:ea typeface="Space Grotesk"/>
                <a:cs typeface="Space Grotesk"/>
                <a:sym typeface="Space Grotesk"/>
              </a:rPr>
              <a:t>AI-Powered Assistance</a:t>
            </a:r>
            <a:endParaRPr/>
          </a:p>
        </p:txBody>
      </p:sp>
      <p:sp>
        <p:nvSpPr>
          <p:cNvPr id="149" name="Google Shape;149;p16"/>
          <p:cNvSpPr txBox="1"/>
          <p:nvPr/>
        </p:nvSpPr>
        <p:spPr>
          <a:xfrm>
            <a:off x="8312050" y="4070746"/>
            <a:ext cx="3060799" cy="9751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200" b="0" i="0" u="none" strike="noStrike" cap="none">
                <a:solidFill>
                  <a:srgbClr val="94A3B8"/>
                </a:solidFill>
                <a:latin typeface="Inter"/>
                <a:ea typeface="Inter"/>
                <a:cs typeface="Inter"/>
                <a:sym typeface="Inter"/>
              </a:rPr>
              <a:t>Features an integrated Groq AI Assistant directly within the dashboard to provide smart insights and streamline platform workflows.</a:t>
            </a:r>
            <a:endParaRPr/>
          </a:p>
        </p:txBody>
      </p:sp>
      <p:pic>
        <p:nvPicPr>
          <p:cNvPr id="150" name="Google Shape;150;p16" descr="image.png"/>
          <p:cNvPicPr preferRelativeResize="0"/>
          <p:nvPr/>
        </p:nvPicPr>
        <p:blipFill rotWithShape="1">
          <a:blip r:embed="rId10">
            <a:alphaModFix/>
          </a:blip>
          <a:srcRect/>
          <a:stretch/>
        </p:blipFill>
        <p:spPr>
          <a:xfrm>
            <a:off x="819150" y="1543050"/>
            <a:ext cx="190500" cy="190500"/>
          </a:xfrm>
          <a:prstGeom prst="rect">
            <a:avLst/>
          </a:prstGeom>
          <a:noFill/>
          <a:ln>
            <a:noFill/>
          </a:ln>
        </p:spPr>
      </p:pic>
      <p:pic>
        <p:nvPicPr>
          <p:cNvPr id="151" name="Google Shape;151;p16" descr="image.png"/>
          <p:cNvPicPr preferRelativeResize="0"/>
          <p:nvPr/>
        </p:nvPicPr>
        <p:blipFill rotWithShape="1">
          <a:blip r:embed="rId11">
            <a:alphaModFix/>
          </a:blip>
          <a:srcRect/>
          <a:stretch/>
        </p:blipFill>
        <p:spPr>
          <a:xfrm>
            <a:off x="4565600" y="1666875"/>
            <a:ext cx="190500" cy="190500"/>
          </a:xfrm>
          <a:prstGeom prst="rect">
            <a:avLst/>
          </a:prstGeom>
          <a:noFill/>
          <a:ln>
            <a:noFill/>
          </a:ln>
        </p:spPr>
      </p:pic>
      <p:pic>
        <p:nvPicPr>
          <p:cNvPr id="152" name="Google Shape;152;p16" descr="image.png"/>
          <p:cNvPicPr preferRelativeResize="0"/>
          <p:nvPr/>
        </p:nvPicPr>
        <p:blipFill rotWithShape="1">
          <a:blip r:embed="rId12">
            <a:alphaModFix/>
          </a:blip>
          <a:srcRect/>
          <a:stretch/>
        </p:blipFill>
        <p:spPr>
          <a:xfrm>
            <a:off x="8312050" y="1543050"/>
            <a:ext cx="171450" cy="190500"/>
          </a:xfrm>
          <a:prstGeom prst="rect">
            <a:avLst/>
          </a:prstGeom>
          <a:noFill/>
          <a:ln>
            <a:noFill/>
          </a:ln>
        </p:spPr>
      </p:pic>
      <p:pic>
        <p:nvPicPr>
          <p:cNvPr id="153" name="Google Shape;153;p16" descr="image.png"/>
          <p:cNvPicPr preferRelativeResize="0"/>
          <p:nvPr/>
        </p:nvPicPr>
        <p:blipFill rotWithShape="1">
          <a:blip r:embed="rId13">
            <a:alphaModFix/>
          </a:blip>
          <a:srcRect/>
          <a:stretch/>
        </p:blipFill>
        <p:spPr>
          <a:xfrm>
            <a:off x="819150" y="3775471"/>
            <a:ext cx="190500" cy="190500"/>
          </a:xfrm>
          <a:prstGeom prst="rect">
            <a:avLst/>
          </a:prstGeom>
          <a:noFill/>
          <a:ln>
            <a:noFill/>
          </a:ln>
        </p:spPr>
      </p:pic>
      <p:pic>
        <p:nvPicPr>
          <p:cNvPr id="154" name="Google Shape;154;p16" descr="image.png"/>
          <p:cNvPicPr preferRelativeResize="0"/>
          <p:nvPr/>
        </p:nvPicPr>
        <p:blipFill rotWithShape="1">
          <a:blip r:embed="rId14">
            <a:alphaModFix/>
          </a:blip>
          <a:srcRect/>
          <a:stretch/>
        </p:blipFill>
        <p:spPr>
          <a:xfrm>
            <a:off x="4565600" y="3899296"/>
            <a:ext cx="190500" cy="190500"/>
          </a:xfrm>
          <a:prstGeom prst="rect">
            <a:avLst/>
          </a:prstGeom>
          <a:noFill/>
          <a:ln>
            <a:noFill/>
          </a:ln>
        </p:spPr>
      </p:pic>
      <p:pic>
        <p:nvPicPr>
          <p:cNvPr id="155" name="Google Shape;155;p16" descr="image.png"/>
          <p:cNvPicPr preferRelativeResize="0"/>
          <p:nvPr/>
        </p:nvPicPr>
        <p:blipFill rotWithShape="1">
          <a:blip r:embed="rId15">
            <a:alphaModFix/>
          </a:blip>
          <a:srcRect/>
          <a:stretch/>
        </p:blipFill>
        <p:spPr>
          <a:xfrm>
            <a:off x="8312050" y="3775471"/>
            <a:ext cx="238125" cy="190500"/>
          </a:xfrm>
          <a:prstGeom prst="rect">
            <a:avLst/>
          </a:prstGeom>
          <a:noFill/>
          <a:ln>
            <a:noFill/>
          </a:ln>
        </p:spPr>
      </p:pic>
      <p:sp>
        <p:nvSpPr>
          <p:cNvPr id="156" name="Google Shape;156;p16"/>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Core Platform Features</a:t>
            </a:r>
            <a:endParaRPr/>
          </a:p>
        </p:txBody>
      </p:sp>
      <p:sp>
        <p:nvSpPr>
          <p:cNvPr id="157" name="Google Shape;157;p16"/>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61"/>
        <p:cNvGrpSpPr/>
        <p:nvPr/>
      </p:nvGrpSpPr>
      <p:grpSpPr>
        <a:xfrm>
          <a:off x="0" y="0"/>
          <a:ext cx="0" cy="0"/>
          <a:chOff x="0" y="0"/>
          <a:chExt cx="0" cy="0"/>
        </a:xfrm>
      </p:grpSpPr>
      <p:sp>
        <p:nvSpPr>
          <p:cNvPr id="162" name="Google Shape;162;p17"/>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7"/>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Technology Stack &amp; Architecture</a:t>
            </a:r>
            <a:endParaRPr/>
          </a:p>
        </p:txBody>
      </p:sp>
      <p:sp>
        <p:nvSpPr>
          <p:cNvPr id="164" name="Google Shape;164;p17"/>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aphicFrame>
        <p:nvGraphicFramePr>
          <p:cNvPr id="165" name="Google Shape;165;p17"/>
          <p:cNvGraphicFramePr/>
          <p:nvPr/>
        </p:nvGraphicFramePr>
        <p:xfrm>
          <a:off x="470225" y="1356700"/>
          <a:ext cx="5261525" cy="5138300"/>
        </p:xfrm>
        <a:graphic>
          <a:graphicData uri="http://schemas.openxmlformats.org/drawingml/2006/table">
            <a:tbl>
              <a:tblPr>
                <a:solidFill>
                  <a:srgbClr val="1E293B"/>
                </a:solidFill>
                <a:tableStyleId>{60E06E19-0624-43C1-B0BD-DA508C9A1689}</a:tableStyleId>
              </a:tblPr>
              <a:tblGrid>
                <a:gridCol w="1764450">
                  <a:extLst>
                    <a:ext uri="{9D8B030D-6E8A-4147-A177-3AD203B41FA5}">
                      <a16:colId xmlns:a16="http://schemas.microsoft.com/office/drawing/2014/main" val="20000"/>
                    </a:ext>
                  </a:extLst>
                </a:gridCol>
                <a:gridCol w="3497075">
                  <a:extLst>
                    <a:ext uri="{9D8B030D-6E8A-4147-A177-3AD203B41FA5}">
                      <a16:colId xmlns:a16="http://schemas.microsoft.com/office/drawing/2014/main" val="20001"/>
                    </a:ext>
                  </a:extLst>
                </a:gridCol>
              </a:tblGrid>
              <a:tr h="742300">
                <a:tc>
                  <a:txBody>
                    <a:bodyPr/>
                    <a:lstStyle/>
                    <a:p>
                      <a:pPr marL="0" lvl="0" indent="0" algn="l" rtl="0">
                        <a:lnSpc>
                          <a:spcPct val="160000"/>
                        </a:lnSpc>
                        <a:spcBef>
                          <a:spcPts val="0"/>
                        </a:spcBef>
                        <a:spcAft>
                          <a:spcPts val="0"/>
                        </a:spcAft>
                        <a:buNone/>
                      </a:pPr>
                      <a:r>
                        <a:rPr lang="en-US" sz="1450" b="1">
                          <a:solidFill>
                            <a:srgbClr val="94A3B8"/>
                          </a:solidFill>
                          <a:highlight>
                            <a:srgbClr val="1E293B"/>
                          </a:highlight>
                          <a:latin typeface="Space Grotesk"/>
                          <a:ea typeface="Space Grotesk"/>
                          <a:cs typeface="Space Grotesk"/>
                          <a:sym typeface="Space Grotesk"/>
                        </a:rPr>
                        <a:t>Frontend</a:t>
                      </a:r>
                      <a:endParaRPr sz="1450" b="1">
                        <a:solidFill>
                          <a:srgbClr val="94A3B8"/>
                        </a:solidFill>
                        <a:highlight>
                          <a:srgbClr val="1E293B"/>
                        </a:highlight>
                        <a:latin typeface="Space Grotesk"/>
                        <a:ea typeface="Space Grotesk"/>
                        <a:cs typeface="Space Grotesk"/>
                        <a:sym typeface="Space Grotesk"/>
                      </a:endParaRPr>
                    </a:p>
                  </a:txBody>
                  <a:tcPr marL="285750" marR="285750" marT="190500" marB="190500">
                    <a:lnB w="10325" cap="flat" cmpd="sng">
                      <a:solidFill>
                        <a:srgbClr val="334155"/>
                      </a:solidFill>
                      <a:prstDash val="solid"/>
                      <a:round/>
                      <a:headEnd type="none" w="sm" len="sm"/>
                      <a:tailEnd type="none" w="sm" len="sm"/>
                    </a:lnB>
                  </a:tcPr>
                </a:tc>
                <a:tc>
                  <a:txBody>
                    <a:bodyPr/>
                    <a:lstStyle/>
                    <a:p>
                      <a:pPr marL="0" lvl="0" indent="0" algn="l" rtl="0">
                        <a:lnSpc>
                          <a:spcPct val="160000"/>
                        </a:lnSpc>
                        <a:spcBef>
                          <a:spcPts val="0"/>
                        </a:spcBef>
                        <a:spcAft>
                          <a:spcPts val="0"/>
                        </a:spcAft>
                        <a:buNone/>
                      </a:pPr>
                      <a:r>
                        <a:rPr lang="en-US" sz="1450">
                          <a:solidFill>
                            <a:srgbClr val="94A3B8"/>
                          </a:solidFill>
                          <a:highlight>
                            <a:srgbClr val="1E293B"/>
                          </a:highlight>
                          <a:latin typeface="Inter"/>
                          <a:ea typeface="Inter"/>
                          <a:cs typeface="Inter"/>
                          <a:sym typeface="Inter"/>
                        </a:rPr>
                        <a:t>React, JavaScript</a:t>
                      </a:r>
                      <a:endParaRPr sz="1450">
                        <a:solidFill>
                          <a:srgbClr val="94A3B8"/>
                        </a:solidFill>
                        <a:highlight>
                          <a:srgbClr val="1E293B"/>
                        </a:highlight>
                        <a:latin typeface="Inter"/>
                        <a:ea typeface="Inter"/>
                        <a:cs typeface="Inter"/>
                        <a:sym typeface="Inter"/>
                      </a:endParaRPr>
                    </a:p>
                  </a:txBody>
                  <a:tcPr marL="285750" marR="285750" marT="190500" marB="190500">
                    <a:lnB w="10325" cap="flat" cmpd="sng">
                      <a:solidFill>
                        <a:srgbClr val="334155"/>
                      </a:solidFill>
                      <a:prstDash val="solid"/>
                      <a:round/>
                      <a:headEnd type="none" w="sm" len="sm"/>
                      <a:tailEnd type="none" w="sm" len="sm"/>
                    </a:lnB>
                  </a:tcPr>
                </a:tc>
                <a:extLst>
                  <a:ext uri="{0D108BD9-81ED-4DB2-BD59-A6C34878D82A}">
                    <a16:rowId xmlns:a16="http://schemas.microsoft.com/office/drawing/2014/main" val="10000"/>
                  </a:ext>
                </a:extLst>
              </a:tr>
              <a:tr h="1099000">
                <a:tc>
                  <a:txBody>
                    <a:bodyPr/>
                    <a:lstStyle/>
                    <a:p>
                      <a:pPr marL="0" lvl="0" indent="0" algn="l" rtl="0">
                        <a:lnSpc>
                          <a:spcPct val="160000"/>
                        </a:lnSpc>
                        <a:spcBef>
                          <a:spcPts val="0"/>
                        </a:spcBef>
                        <a:spcAft>
                          <a:spcPts val="0"/>
                        </a:spcAft>
                        <a:buNone/>
                      </a:pPr>
                      <a:r>
                        <a:rPr lang="en-US" sz="1450" b="1">
                          <a:solidFill>
                            <a:srgbClr val="94A3B8"/>
                          </a:solidFill>
                          <a:highlight>
                            <a:srgbClr val="1E293B"/>
                          </a:highlight>
                          <a:latin typeface="Space Grotesk"/>
                          <a:ea typeface="Space Grotesk"/>
                          <a:cs typeface="Space Grotesk"/>
                          <a:sym typeface="Space Grotesk"/>
                        </a:rPr>
                        <a:t>Backend Services</a:t>
                      </a:r>
                      <a:endParaRPr sz="1450" b="1">
                        <a:solidFill>
                          <a:srgbClr val="94A3B8"/>
                        </a:solidFill>
                        <a:highlight>
                          <a:srgbClr val="1E293B"/>
                        </a:highlight>
                        <a:latin typeface="Space Grotesk"/>
                        <a:ea typeface="Space Grotesk"/>
                        <a:cs typeface="Space Grotesk"/>
                        <a:sym typeface="Space Grotesk"/>
                      </a:endParaRPr>
                    </a:p>
                  </a:txBody>
                  <a:tcPr marL="285750" marR="285750" marT="190500" marB="190500">
                    <a:lnT w="10325" cap="flat" cmpd="sng">
                      <a:solidFill>
                        <a:srgbClr val="334155"/>
                      </a:solidFill>
                      <a:prstDash val="solid"/>
                      <a:round/>
                      <a:headEnd type="none" w="sm" len="sm"/>
                      <a:tailEnd type="none" w="sm" len="sm"/>
                    </a:lnT>
                    <a:lnB w="10325" cap="flat" cmpd="sng">
                      <a:solidFill>
                        <a:srgbClr val="334155"/>
                      </a:solidFill>
                      <a:prstDash val="solid"/>
                      <a:round/>
                      <a:headEnd type="none" w="sm" len="sm"/>
                      <a:tailEnd type="none" w="sm" len="sm"/>
                    </a:lnB>
                  </a:tcPr>
                </a:tc>
                <a:tc>
                  <a:txBody>
                    <a:bodyPr/>
                    <a:lstStyle/>
                    <a:p>
                      <a:pPr marL="0" lvl="0" indent="0" algn="l" rtl="0">
                        <a:lnSpc>
                          <a:spcPct val="160000"/>
                        </a:lnSpc>
                        <a:spcBef>
                          <a:spcPts val="0"/>
                        </a:spcBef>
                        <a:spcAft>
                          <a:spcPts val="0"/>
                        </a:spcAft>
                        <a:buNone/>
                      </a:pPr>
                      <a:r>
                        <a:rPr lang="en-US" sz="1450">
                          <a:solidFill>
                            <a:srgbClr val="94A3B8"/>
                          </a:solidFill>
                          <a:highlight>
                            <a:srgbClr val="1E293B"/>
                          </a:highlight>
                          <a:latin typeface="Inter"/>
                          <a:ea typeface="Inter"/>
                          <a:cs typeface="Inter"/>
                          <a:sym typeface="Inter"/>
                        </a:rPr>
                        <a:t>Java 25, Spring Boot 4</a:t>
                      </a:r>
                      <a:endParaRPr sz="1450">
                        <a:solidFill>
                          <a:srgbClr val="94A3B8"/>
                        </a:solidFill>
                        <a:highlight>
                          <a:srgbClr val="1E293B"/>
                        </a:highlight>
                        <a:latin typeface="Inter"/>
                        <a:ea typeface="Inter"/>
                        <a:cs typeface="Inter"/>
                        <a:sym typeface="Inter"/>
                      </a:endParaRPr>
                    </a:p>
                  </a:txBody>
                  <a:tcPr marL="285750" marR="285750" marT="190500" marB="190500">
                    <a:lnT w="10325" cap="flat" cmpd="sng">
                      <a:solidFill>
                        <a:srgbClr val="334155"/>
                      </a:solidFill>
                      <a:prstDash val="solid"/>
                      <a:round/>
                      <a:headEnd type="none" w="sm" len="sm"/>
                      <a:tailEnd type="none" w="sm" len="sm"/>
                    </a:lnT>
                    <a:lnB w="10325" cap="flat" cmpd="sng">
                      <a:solidFill>
                        <a:srgbClr val="334155"/>
                      </a:solidFill>
                      <a:prstDash val="solid"/>
                      <a:round/>
                      <a:headEnd type="none" w="sm" len="sm"/>
                      <a:tailEnd type="none" w="sm" len="sm"/>
                    </a:lnB>
                  </a:tcPr>
                </a:tc>
                <a:extLst>
                  <a:ext uri="{0D108BD9-81ED-4DB2-BD59-A6C34878D82A}">
                    <a16:rowId xmlns:a16="http://schemas.microsoft.com/office/drawing/2014/main" val="10001"/>
                  </a:ext>
                </a:extLst>
              </a:tr>
              <a:tr h="1099000">
                <a:tc>
                  <a:txBody>
                    <a:bodyPr/>
                    <a:lstStyle/>
                    <a:p>
                      <a:pPr marL="0" lvl="0" indent="0" algn="l" rtl="0">
                        <a:lnSpc>
                          <a:spcPct val="160000"/>
                        </a:lnSpc>
                        <a:spcBef>
                          <a:spcPts val="0"/>
                        </a:spcBef>
                        <a:spcAft>
                          <a:spcPts val="0"/>
                        </a:spcAft>
                        <a:buNone/>
                      </a:pPr>
                      <a:r>
                        <a:rPr lang="en-US" sz="1450" b="1">
                          <a:solidFill>
                            <a:srgbClr val="94A3B8"/>
                          </a:solidFill>
                          <a:highlight>
                            <a:srgbClr val="1E293B"/>
                          </a:highlight>
                          <a:latin typeface="Space Grotesk"/>
                          <a:ea typeface="Space Grotesk"/>
                          <a:cs typeface="Space Grotesk"/>
                          <a:sym typeface="Space Grotesk"/>
                        </a:rPr>
                        <a:t>Data &amp; Event Layer</a:t>
                      </a:r>
                      <a:endParaRPr sz="1450" b="1">
                        <a:solidFill>
                          <a:srgbClr val="94A3B8"/>
                        </a:solidFill>
                        <a:highlight>
                          <a:srgbClr val="1E293B"/>
                        </a:highlight>
                        <a:latin typeface="Space Grotesk"/>
                        <a:ea typeface="Space Grotesk"/>
                        <a:cs typeface="Space Grotesk"/>
                        <a:sym typeface="Space Grotesk"/>
                      </a:endParaRPr>
                    </a:p>
                  </a:txBody>
                  <a:tcPr marL="285750" marR="285750" marT="190500" marB="190500">
                    <a:lnT w="10325" cap="flat" cmpd="sng">
                      <a:solidFill>
                        <a:srgbClr val="334155"/>
                      </a:solidFill>
                      <a:prstDash val="solid"/>
                      <a:round/>
                      <a:headEnd type="none" w="sm" len="sm"/>
                      <a:tailEnd type="none" w="sm" len="sm"/>
                    </a:lnT>
                    <a:lnB w="10325" cap="flat" cmpd="sng">
                      <a:solidFill>
                        <a:srgbClr val="334155"/>
                      </a:solidFill>
                      <a:prstDash val="solid"/>
                      <a:round/>
                      <a:headEnd type="none" w="sm" len="sm"/>
                      <a:tailEnd type="none" w="sm" len="sm"/>
                    </a:lnB>
                  </a:tcPr>
                </a:tc>
                <a:tc>
                  <a:txBody>
                    <a:bodyPr/>
                    <a:lstStyle/>
                    <a:p>
                      <a:pPr marL="0" lvl="0" indent="0" algn="l" rtl="0">
                        <a:lnSpc>
                          <a:spcPct val="160000"/>
                        </a:lnSpc>
                        <a:spcBef>
                          <a:spcPts val="0"/>
                        </a:spcBef>
                        <a:spcAft>
                          <a:spcPts val="0"/>
                        </a:spcAft>
                        <a:buNone/>
                      </a:pPr>
                      <a:r>
                        <a:rPr lang="en-US" sz="1450">
                          <a:solidFill>
                            <a:srgbClr val="94A3B8"/>
                          </a:solidFill>
                          <a:highlight>
                            <a:srgbClr val="1E293B"/>
                          </a:highlight>
                          <a:latin typeface="Inter"/>
                          <a:ea typeface="Inter"/>
                          <a:cs typeface="Inter"/>
                          <a:sym typeface="Inter"/>
                        </a:rPr>
                        <a:t>PostgreSQL</a:t>
                      </a:r>
                      <a:endParaRPr sz="1450">
                        <a:solidFill>
                          <a:srgbClr val="94A3B8"/>
                        </a:solidFill>
                        <a:highlight>
                          <a:srgbClr val="1E293B"/>
                        </a:highlight>
                        <a:latin typeface="Inter"/>
                        <a:ea typeface="Inter"/>
                        <a:cs typeface="Inter"/>
                        <a:sym typeface="Inter"/>
                      </a:endParaRPr>
                    </a:p>
                  </a:txBody>
                  <a:tcPr marL="285750" marR="285750" marT="190500" marB="190500">
                    <a:lnT w="10325" cap="flat" cmpd="sng">
                      <a:solidFill>
                        <a:srgbClr val="334155"/>
                      </a:solidFill>
                      <a:prstDash val="solid"/>
                      <a:round/>
                      <a:headEnd type="none" w="sm" len="sm"/>
                      <a:tailEnd type="none" w="sm" len="sm"/>
                    </a:lnT>
                    <a:lnB w="10325" cap="flat" cmpd="sng">
                      <a:solidFill>
                        <a:srgbClr val="334155"/>
                      </a:solidFill>
                      <a:prstDash val="solid"/>
                      <a:round/>
                      <a:headEnd type="none" w="sm" len="sm"/>
                      <a:tailEnd type="none" w="sm" len="sm"/>
                    </a:lnB>
                  </a:tcPr>
                </a:tc>
                <a:extLst>
                  <a:ext uri="{0D108BD9-81ED-4DB2-BD59-A6C34878D82A}">
                    <a16:rowId xmlns:a16="http://schemas.microsoft.com/office/drawing/2014/main" val="10002"/>
                  </a:ext>
                </a:extLst>
              </a:tr>
              <a:tr h="1099000">
                <a:tc>
                  <a:txBody>
                    <a:bodyPr/>
                    <a:lstStyle/>
                    <a:p>
                      <a:pPr marL="0" lvl="0" indent="0" algn="l" rtl="0">
                        <a:lnSpc>
                          <a:spcPct val="160000"/>
                        </a:lnSpc>
                        <a:spcBef>
                          <a:spcPts val="0"/>
                        </a:spcBef>
                        <a:spcAft>
                          <a:spcPts val="0"/>
                        </a:spcAft>
                        <a:buNone/>
                      </a:pPr>
                      <a:r>
                        <a:rPr lang="en-US" sz="1450" b="1">
                          <a:solidFill>
                            <a:srgbClr val="94A3B8"/>
                          </a:solidFill>
                          <a:highlight>
                            <a:srgbClr val="1E293B"/>
                          </a:highlight>
                          <a:latin typeface="Space Grotesk"/>
                          <a:ea typeface="Space Grotesk"/>
                          <a:cs typeface="Space Grotesk"/>
                          <a:sym typeface="Space Grotesk"/>
                        </a:rPr>
                        <a:t>Infrastructure &amp; Security</a:t>
                      </a:r>
                      <a:endParaRPr sz="1450" b="1">
                        <a:solidFill>
                          <a:srgbClr val="94A3B8"/>
                        </a:solidFill>
                        <a:highlight>
                          <a:srgbClr val="1E293B"/>
                        </a:highlight>
                        <a:latin typeface="Space Grotesk"/>
                        <a:ea typeface="Space Grotesk"/>
                        <a:cs typeface="Space Grotesk"/>
                        <a:sym typeface="Space Grotesk"/>
                      </a:endParaRPr>
                    </a:p>
                  </a:txBody>
                  <a:tcPr marL="285750" marR="285750" marT="190500" marB="190500">
                    <a:lnT w="10325" cap="flat" cmpd="sng">
                      <a:solidFill>
                        <a:srgbClr val="334155"/>
                      </a:solidFill>
                      <a:prstDash val="solid"/>
                      <a:round/>
                      <a:headEnd type="none" w="sm" len="sm"/>
                      <a:tailEnd type="none" w="sm" len="sm"/>
                    </a:lnT>
                    <a:lnB w="10325" cap="flat" cmpd="sng">
                      <a:solidFill>
                        <a:srgbClr val="334155"/>
                      </a:solidFill>
                      <a:prstDash val="solid"/>
                      <a:round/>
                      <a:headEnd type="none" w="sm" len="sm"/>
                      <a:tailEnd type="none" w="sm" len="sm"/>
                    </a:lnB>
                  </a:tcPr>
                </a:tc>
                <a:tc>
                  <a:txBody>
                    <a:bodyPr/>
                    <a:lstStyle/>
                    <a:p>
                      <a:pPr marL="0" lvl="0" indent="0" algn="l" rtl="0">
                        <a:lnSpc>
                          <a:spcPct val="160000"/>
                        </a:lnSpc>
                        <a:spcBef>
                          <a:spcPts val="0"/>
                        </a:spcBef>
                        <a:spcAft>
                          <a:spcPts val="0"/>
                        </a:spcAft>
                        <a:buNone/>
                      </a:pPr>
                      <a:r>
                        <a:rPr lang="en-US" sz="1450">
                          <a:solidFill>
                            <a:srgbClr val="94A3B8"/>
                          </a:solidFill>
                          <a:highlight>
                            <a:srgbClr val="1E293B"/>
                          </a:highlight>
                          <a:latin typeface="Inter"/>
                          <a:ea typeface="Inter"/>
                          <a:cs typeface="Inter"/>
                          <a:sym typeface="Inter"/>
                        </a:rPr>
                        <a:t>Docker, Keycloak.</a:t>
                      </a:r>
                      <a:endParaRPr sz="1450">
                        <a:solidFill>
                          <a:srgbClr val="94A3B8"/>
                        </a:solidFill>
                        <a:highlight>
                          <a:srgbClr val="1E293B"/>
                        </a:highlight>
                        <a:latin typeface="Inter"/>
                        <a:ea typeface="Inter"/>
                        <a:cs typeface="Inter"/>
                        <a:sym typeface="Inter"/>
                      </a:endParaRPr>
                    </a:p>
                  </a:txBody>
                  <a:tcPr marL="285750" marR="285750" marT="190500" marB="190500">
                    <a:lnT w="10325" cap="flat" cmpd="sng">
                      <a:solidFill>
                        <a:srgbClr val="334155"/>
                      </a:solidFill>
                      <a:prstDash val="solid"/>
                      <a:round/>
                      <a:headEnd type="none" w="sm" len="sm"/>
                      <a:tailEnd type="none" w="sm" len="sm"/>
                    </a:lnT>
                    <a:lnB w="10325" cap="flat" cmpd="sng">
                      <a:solidFill>
                        <a:srgbClr val="334155"/>
                      </a:solidFill>
                      <a:prstDash val="solid"/>
                      <a:round/>
                      <a:headEnd type="none" w="sm" len="sm"/>
                      <a:tailEnd type="none" w="sm" len="sm"/>
                    </a:lnB>
                  </a:tcPr>
                </a:tc>
                <a:extLst>
                  <a:ext uri="{0D108BD9-81ED-4DB2-BD59-A6C34878D82A}">
                    <a16:rowId xmlns:a16="http://schemas.microsoft.com/office/drawing/2014/main" val="10003"/>
                  </a:ext>
                </a:extLst>
              </a:tr>
              <a:tr h="1099000">
                <a:tc>
                  <a:txBody>
                    <a:bodyPr/>
                    <a:lstStyle/>
                    <a:p>
                      <a:pPr marL="0" lvl="0" indent="0" algn="l" rtl="0">
                        <a:lnSpc>
                          <a:spcPct val="160000"/>
                        </a:lnSpc>
                        <a:spcBef>
                          <a:spcPts val="0"/>
                        </a:spcBef>
                        <a:spcAft>
                          <a:spcPts val="0"/>
                        </a:spcAft>
                        <a:buNone/>
                      </a:pPr>
                      <a:r>
                        <a:rPr lang="en-US" sz="1450" b="1">
                          <a:solidFill>
                            <a:srgbClr val="94A3B8"/>
                          </a:solidFill>
                          <a:highlight>
                            <a:srgbClr val="1E293B"/>
                          </a:highlight>
                          <a:latin typeface="Space Grotesk"/>
                          <a:ea typeface="Space Grotesk"/>
                          <a:cs typeface="Space Grotesk"/>
                          <a:sym typeface="Space Grotesk"/>
                        </a:rPr>
                        <a:t>AI &amp; DevOps Tools</a:t>
                      </a:r>
                      <a:endParaRPr sz="1450" b="1">
                        <a:solidFill>
                          <a:srgbClr val="94A3B8"/>
                        </a:solidFill>
                        <a:highlight>
                          <a:srgbClr val="1E293B"/>
                        </a:highlight>
                        <a:latin typeface="Space Grotesk"/>
                        <a:ea typeface="Space Grotesk"/>
                        <a:cs typeface="Space Grotesk"/>
                        <a:sym typeface="Space Grotesk"/>
                      </a:endParaRPr>
                    </a:p>
                  </a:txBody>
                  <a:tcPr marL="285750" marR="285750" marT="190500" marB="190500">
                    <a:lnT w="10325" cap="flat" cmpd="sng">
                      <a:solidFill>
                        <a:srgbClr val="334155"/>
                      </a:solidFill>
                      <a:prstDash val="solid"/>
                      <a:round/>
                      <a:headEnd type="none" w="sm" len="sm"/>
                      <a:tailEnd type="none" w="sm" len="sm"/>
                    </a:lnT>
                    <a:lnB w="10325" cap="flat" cmpd="sng">
                      <a:solidFill>
                        <a:srgbClr val="334155"/>
                      </a:solidFill>
                      <a:prstDash val="solid"/>
                      <a:round/>
                      <a:headEnd type="none" w="sm" len="sm"/>
                      <a:tailEnd type="none" w="sm" len="sm"/>
                    </a:lnB>
                  </a:tcPr>
                </a:tc>
                <a:tc>
                  <a:txBody>
                    <a:bodyPr/>
                    <a:lstStyle/>
                    <a:p>
                      <a:pPr marL="0" lvl="0" indent="0" algn="l" rtl="0">
                        <a:lnSpc>
                          <a:spcPct val="160000"/>
                        </a:lnSpc>
                        <a:spcBef>
                          <a:spcPts val="0"/>
                        </a:spcBef>
                        <a:spcAft>
                          <a:spcPts val="0"/>
                        </a:spcAft>
                        <a:buNone/>
                      </a:pPr>
                      <a:r>
                        <a:rPr lang="en-US" sz="1450">
                          <a:solidFill>
                            <a:srgbClr val="94A3B8"/>
                          </a:solidFill>
                          <a:highlight>
                            <a:srgbClr val="1E293B"/>
                          </a:highlight>
                          <a:latin typeface="Inter"/>
                          <a:ea typeface="Inter"/>
                          <a:cs typeface="Inter"/>
                          <a:sym typeface="Inter"/>
                        </a:rPr>
                        <a:t>Groq AI, Prometheus, Grafana, </a:t>
                      </a:r>
                      <a:endParaRPr sz="1450">
                        <a:solidFill>
                          <a:srgbClr val="94A3B8"/>
                        </a:solidFill>
                        <a:highlight>
                          <a:srgbClr val="1E293B"/>
                        </a:highlight>
                        <a:latin typeface="Inter"/>
                        <a:ea typeface="Inter"/>
                        <a:cs typeface="Inter"/>
                        <a:sym typeface="Inter"/>
                      </a:endParaRPr>
                    </a:p>
                    <a:p>
                      <a:pPr marL="0" lvl="0" indent="0" algn="l" rtl="0">
                        <a:lnSpc>
                          <a:spcPct val="160000"/>
                        </a:lnSpc>
                        <a:spcBef>
                          <a:spcPts val="0"/>
                        </a:spcBef>
                        <a:spcAft>
                          <a:spcPts val="0"/>
                        </a:spcAft>
                        <a:buNone/>
                      </a:pPr>
                      <a:r>
                        <a:rPr lang="en-US" sz="1450">
                          <a:solidFill>
                            <a:srgbClr val="94A3B8"/>
                          </a:solidFill>
                          <a:highlight>
                            <a:srgbClr val="1E293B"/>
                          </a:highlight>
                          <a:latin typeface="Inter"/>
                          <a:ea typeface="Inter"/>
                          <a:cs typeface="Inter"/>
                          <a:sym typeface="Inter"/>
                        </a:rPr>
                        <a:t>Kibana, and GitHub Actions</a:t>
                      </a:r>
                      <a:endParaRPr sz="1450">
                        <a:solidFill>
                          <a:srgbClr val="94A3B8"/>
                        </a:solidFill>
                        <a:highlight>
                          <a:srgbClr val="1E293B"/>
                        </a:highlight>
                        <a:latin typeface="Inter"/>
                        <a:ea typeface="Inter"/>
                        <a:cs typeface="Inter"/>
                        <a:sym typeface="Inter"/>
                      </a:endParaRPr>
                    </a:p>
                  </a:txBody>
                  <a:tcPr marL="285750" marR="285750" marT="190500" marB="190500">
                    <a:lnT w="10325" cap="flat" cmpd="sng">
                      <a:solidFill>
                        <a:srgbClr val="334155"/>
                      </a:solidFill>
                      <a:prstDash val="solid"/>
                      <a:round/>
                      <a:headEnd type="none" w="sm" len="sm"/>
                      <a:tailEnd type="none" w="sm" len="sm"/>
                    </a:lnT>
                  </a:tcPr>
                </a:tc>
                <a:extLst>
                  <a:ext uri="{0D108BD9-81ED-4DB2-BD59-A6C34878D82A}">
                    <a16:rowId xmlns:a16="http://schemas.microsoft.com/office/drawing/2014/main" val="10004"/>
                  </a:ext>
                </a:extLst>
              </a:tr>
            </a:tbl>
          </a:graphicData>
        </a:graphic>
      </p:graphicFrame>
      <p:pic>
        <p:nvPicPr>
          <p:cNvPr id="166" name="Google Shape;166;p17"/>
          <p:cNvPicPr preferRelativeResize="0"/>
          <p:nvPr/>
        </p:nvPicPr>
        <p:blipFill>
          <a:blip r:embed="rId3">
            <a:alphaModFix/>
          </a:blip>
          <a:stretch>
            <a:fillRect/>
          </a:stretch>
        </p:blipFill>
        <p:spPr>
          <a:xfrm>
            <a:off x="5887000" y="1133475"/>
            <a:ext cx="6152602" cy="53615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70"/>
        <p:cNvGrpSpPr/>
        <p:nvPr/>
      </p:nvGrpSpPr>
      <p:grpSpPr>
        <a:xfrm>
          <a:off x="0" y="0"/>
          <a:ext cx="0" cy="0"/>
          <a:chOff x="0" y="0"/>
          <a:chExt cx="0" cy="0"/>
        </a:xfrm>
      </p:grpSpPr>
      <p:pic>
        <p:nvPicPr>
          <p:cNvPr id="171" name="Google Shape;171;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72" name="Google Shape;172;p18"/>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3" name="Google Shape;173;p18"/>
          <p:cNvSpPr/>
          <p:nvPr/>
        </p:nvSpPr>
        <p:spPr>
          <a:xfrm>
            <a:off x="571500" y="2702123"/>
            <a:ext cx="11049000" cy="38100"/>
          </a:xfrm>
          <a:prstGeom prst="rect">
            <a:avLst/>
          </a:prstGeom>
          <a:solidFill>
            <a:srgbClr val="33415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74" name="Google Shape;174;p18"/>
          <p:cNvSpPr txBox="1"/>
          <p:nvPr/>
        </p:nvSpPr>
        <p:spPr>
          <a:xfrm>
            <a:off x="571500" y="2219325"/>
            <a:ext cx="2552193"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F8FAFC"/>
                </a:solidFill>
                <a:latin typeface="Space Grotesk"/>
                <a:ea typeface="Space Grotesk"/>
                <a:cs typeface="Space Grotesk"/>
                <a:sym typeface="Space Grotesk"/>
              </a:rPr>
              <a:t>Milestone 1 </a:t>
            </a:r>
            <a:r>
              <a:rPr lang="en-US" sz="1650" b="1" i="0" u="none" strike="noStrike" cap="none" dirty="0">
                <a:solidFill>
                  <a:schemeClr val="accent1">
                    <a:lumMod val="60000"/>
                    <a:lumOff val="40000"/>
                  </a:schemeClr>
                </a:solidFill>
                <a:latin typeface="Space Grotesk"/>
                <a:ea typeface="Space Grotesk"/>
                <a:cs typeface="Space Grotesk"/>
                <a:sym typeface="Space Grotesk"/>
              </a:rPr>
              <a:t>(Weeks 1-2)</a:t>
            </a:r>
            <a:endParaRPr dirty="0">
              <a:solidFill>
                <a:schemeClr val="accent1">
                  <a:lumMod val="60000"/>
                  <a:lumOff val="40000"/>
                </a:schemeClr>
              </a:solidFill>
            </a:endParaRPr>
          </a:p>
        </p:txBody>
      </p:sp>
      <p:sp>
        <p:nvSpPr>
          <p:cNvPr id="175" name="Google Shape;175;p18"/>
          <p:cNvSpPr txBox="1"/>
          <p:nvPr/>
        </p:nvSpPr>
        <p:spPr>
          <a:xfrm>
            <a:off x="571525" y="2956325"/>
            <a:ext cx="2430600" cy="905100"/>
          </a:xfrm>
          <a:prstGeom prst="rect">
            <a:avLst/>
          </a:prstGeom>
          <a:noFill/>
          <a:ln>
            <a:noFill/>
          </a:ln>
        </p:spPr>
        <p:txBody>
          <a:bodyPr spcFirstLastPara="1" wrap="square" lIns="0" tIns="0" rIns="0" bIns="0" anchor="t" anchorCtr="0">
            <a:spAutoFit/>
          </a:bodyPr>
          <a:lstStyle/>
          <a:p>
            <a:pPr marL="0" marR="0" lvl="0" indent="0" algn="l" rtl="0">
              <a:lnSpc>
                <a:spcPct val="106666"/>
              </a:lnSpc>
              <a:spcBef>
                <a:spcPts val="0"/>
              </a:spcBef>
              <a:spcAft>
                <a:spcPts val="0"/>
              </a:spcAft>
              <a:buNone/>
            </a:pPr>
            <a:r>
              <a:rPr lang="en-US" b="0" i="0" u="none" strike="noStrike" cap="none">
                <a:solidFill>
                  <a:srgbClr val="F8FAFC"/>
                </a:solidFill>
                <a:latin typeface="Inter SemiBold"/>
                <a:ea typeface="Inter SemiBold"/>
                <a:cs typeface="Inter SemiBold"/>
                <a:sym typeface="Inter SemiBold"/>
              </a:rPr>
              <a:t>Project &amp; User Management</a:t>
            </a:r>
            <a:br>
              <a:rPr lang="en-US" sz="2000" b="0" i="0" u="none" strike="noStrike" cap="none">
                <a:solidFill>
                  <a:schemeClr val="dk1"/>
                </a:solidFill>
                <a:latin typeface="Calibri"/>
                <a:ea typeface="Calibri"/>
                <a:cs typeface="Calibri"/>
                <a:sym typeface="Calibri"/>
              </a:rPr>
            </a:br>
            <a:r>
              <a:rPr lang="en-US" b="0" i="0" u="none" strike="noStrike" cap="none">
                <a:solidFill>
                  <a:srgbClr val="94A3B8"/>
                </a:solidFill>
                <a:latin typeface="Inter"/>
                <a:ea typeface="Inter"/>
                <a:cs typeface="Inter"/>
                <a:sym typeface="Inter"/>
              </a:rPr>
              <a:t> (Implementing RBAC, Keycloak IAM, and Team Setup).</a:t>
            </a:r>
            <a:endParaRPr sz="1600"/>
          </a:p>
        </p:txBody>
      </p:sp>
      <p:sp>
        <p:nvSpPr>
          <p:cNvPr id="176" name="Google Shape;176;p18"/>
          <p:cNvSpPr txBox="1"/>
          <p:nvPr/>
        </p:nvSpPr>
        <p:spPr>
          <a:xfrm>
            <a:off x="3444180" y="2219325"/>
            <a:ext cx="2552193"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F8FAFC"/>
                </a:solidFill>
                <a:latin typeface="Space Grotesk"/>
                <a:ea typeface="Space Grotesk"/>
                <a:cs typeface="Space Grotesk"/>
                <a:sym typeface="Space Grotesk"/>
              </a:rPr>
              <a:t>Milestone 2 </a:t>
            </a:r>
            <a:r>
              <a:rPr lang="en-US" sz="1650" b="1" i="0" u="none" strike="noStrike" cap="none" dirty="0">
                <a:solidFill>
                  <a:schemeClr val="accent1">
                    <a:lumMod val="60000"/>
                    <a:lumOff val="40000"/>
                  </a:schemeClr>
                </a:solidFill>
                <a:latin typeface="Space Grotesk"/>
                <a:ea typeface="Space Grotesk"/>
                <a:cs typeface="Space Grotesk"/>
                <a:sym typeface="Space Grotesk"/>
              </a:rPr>
              <a:t>(Weeks 3-4)</a:t>
            </a:r>
            <a:endParaRPr dirty="0">
              <a:solidFill>
                <a:schemeClr val="accent1">
                  <a:lumMod val="60000"/>
                  <a:lumOff val="40000"/>
                </a:schemeClr>
              </a:solidFill>
            </a:endParaRPr>
          </a:p>
        </p:txBody>
      </p:sp>
      <p:sp>
        <p:nvSpPr>
          <p:cNvPr id="177" name="Google Shape;177;p18"/>
          <p:cNvSpPr txBox="1"/>
          <p:nvPr/>
        </p:nvSpPr>
        <p:spPr>
          <a:xfrm>
            <a:off x="3444155" y="2956325"/>
            <a:ext cx="2430600" cy="905100"/>
          </a:xfrm>
          <a:prstGeom prst="rect">
            <a:avLst/>
          </a:prstGeom>
          <a:noFill/>
          <a:ln>
            <a:noFill/>
          </a:ln>
        </p:spPr>
        <p:txBody>
          <a:bodyPr spcFirstLastPara="1" wrap="square" lIns="0" tIns="0" rIns="0" bIns="0" anchor="t" anchorCtr="0">
            <a:spAutoFit/>
          </a:bodyPr>
          <a:lstStyle/>
          <a:p>
            <a:pPr marL="0" marR="0" lvl="0" indent="0" algn="l" rtl="0">
              <a:lnSpc>
                <a:spcPct val="106666"/>
              </a:lnSpc>
              <a:spcBef>
                <a:spcPts val="0"/>
              </a:spcBef>
              <a:spcAft>
                <a:spcPts val="0"/>
              </a:spcAft>
              <a:buNone/>
            </a:pPr>
            <a:r>
              <a:rPr lang="en-US" b="0" i="0" u="none" strike="noStrike" cap="none">
                <a:solidFill>
                  <a:srgbClr val="F8FAFC"/>
                </a:solidFill>
                <a:latin typeface="Inter SemiBold"/>
                <a:ea typeface="Inter SemiBold"/>
                <a:cs typeface="Inter SemiBold"/>
                <a:sym typeface="Inter SemiBold"/>
              </a:rPr>
              <a:t>Sprint &amp; Task Management</a:t>
            </a:r>
            <a:br>
              <a:rPr lang="en-US" sz="2000" b="0" i="0" u="none" strike="noStrike" cap="none">
                <a:solidFill>
                  <a:schemeClr val="dk1"/>
                </a:solidFill>
                <a:latin typeface="Calibri"/>
                <a:ea typeface="Calibri"/>
                <a:cs typeface="Calibri"/>
                <a:sym typeface="Calibri"/>
              </a:rPr>
            </a:br>
            <a:r>
              <a:rPr lang="en-US" b="0" i="0" u="none" strike="noStrike" cap="none">
                <a:solidFill>
                  <a:srgbClr val="94A3B8"/>
                </a:solidFill>
                <a:latin typeface="Inter"/>
                <a:ea typeface="Inter"/>
                <a:cs typeface="Inter"/>
                <a:sym typeface="Inter"/>
              </a:rPr>
              <a:t> (Deploying Kanban boards, velocity tracking, and blocker management).</a:t>
            </a:r>
            <a:endParaRPr sz="1600"/>
          </a:p>
        </p:txBody>
      </p:sp>
      <p:sp>
        <p:nvSpPr>
          <p:cNvPr id="178" name="Google Shape;178;p18"/>
          <p:cNvSpPr txBox="1"/>
          <p:nvPr/>
        </p:nvSpPr>
        <p:spPr>
          <a:xfrm>
            <a:off x="6316860" y="2219325"/>
            <a:ext cx="2552193"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F8FAFC"/>
                </a:solidFill>
                <a:latin typeface="Space Grotesk"/>
                <a:ea typeface="Space Grotesk"/>
                <a:cs typeface="Space Grotesk"/>
                <a:sym typeface="Space Grotesk"/>
              </a:rPr>
              <a:t>Milestone 3 </a:t>
            </a:r>
            <a:r>
              <a:rPr lang="en-US" sz="1650" b="1" i="0" u="none" strike="noStrike" cap="none" dirty="0">
                <a:solidFill>
                  <a:schemeClr val="accent1">
                    <a:lumMod val="60000"/>
                    <a:lumOff val="40000"/>
                  </a:schemeClr>
                </a:solidFill>
                <a:latin typeface="Space Grotesk"/>
                <a:ea typeface="Space Grotesk"/>
                <a:cs typeface="Space Grotesk"/>
                <a:sym typeface="Space Grotesk"/>
              </a:rPr>
              <a:t>(Weeks 5-6)</a:t>
            </a:r>
            <a:endParaRPr dirty="0">
              <a:solidFill>
                <a:schemeClr val="accent1">
                  <a:lumMod val="60000"/>
                  <a:lumOff val="40000"/>
                </a:schemeClr>
              </a:solidFill>
            </a:endParaRPr>
          </a:p>
        </p:txBody>
      </p:sp>
      <p:sp>
        <p:nvSpPr>
          <p:cNvPr id="179" name="Google Shape;179;p18"/>
          <p:cNvSpPr txBox="1"/>
          <p:nvPr/>
        </p:nvSpPr>
        <p:spPr>
          <a:xfrm>
            <a:off x="6316848" y="2956313"/>
            <a:ext cx="2430600" cy="905100"/>
          </a:xfrm>
          <a:prstGeom prst="rect">
            <a:avLst/>
          </a:prstGeom>
          <a:noFill/>
          <a:ln>
            <a:noFill/>
          </a:ln>
        </p:spPr>
        <p:txBody>
          <a:bodyPr spcFirstLastPara="1" wrap="square" lIns="0" tIns="0" rIns="0" bIns="0" anchor="t" anchorCtr="0">
            <a:spAutoFit/>
          </a:bodyPr>
          <a:lstStyle/>
          <a:p>
            <a:pPr marL="0" marR="0" lvl="0" indent="0" algn="l" rtl="0">
              <a:lnSpc>
                <a:spcPct val="106666"/>
              </a:lnSpc>
              <a:spcBef>
                <a:spcPts val="0"/>
              </a:spcBef>
              <a:spcAft>
                <a:spcPts val="0"/>
              </a:spcAft>
              <a:buNone/>
            </a:pPr>
            <a:r>
              <a:rPr lang="en-US" b="0" i="0" u="none" strike="noStrike" cap="none" dirty="0">
                <a:solidFill>
                  <a:srgbClr val="F8FAFC"/>
                </a:solidFill>
                <a:latin typeface="Inter SemiBold"/>
                <a:ea typeface="Inter SemiBold"/>
                <a:cs typeface="Inter SemiBold"/>
                <a:sym typeface="Inter SemiBold"/>
              </a:rPr>
              <a:t>CI/CD Pipeline</a:t>
            </a:r>
            <a:br>
              <a:rPr lang="en-US" sz="2000" b="0" i="0" u="none" strike="noStrike" cap="none" dirty="0">
                <a:solidFill>
                  <a:schemeClr val="dk1"/>
                </a:solidFill>
                <a:latin typeface="Calibri"/>
                <a:ea typeface="Calibri"/>
                <a:cs typeface="Calibri"/>
                <a:sym typeface="Calibri"/>
              </a:rPr>
            </a:br>
            <a:r>
              <a:rPr lang="en-US" b="0" i="0" u="none" strike="noStrike" cap="none" dirty="0">
                <a:solidFill>
                  <a:srgbClr val="94A3B8"/>
                </a:solidFill>
                <a:latin typeface="Inter"/>
                <a:ea typeface="Inter"/>
                <a:cs typeface="Inter"/>
                <a:sym typeface="Inter"/>
              </a:rPr>
              <a:t> (Integrating Jenkins, tracking builds, test results, and deployment status).</a:t>
            </a:r>
            <a:endParaRPr sz="1600" dirty="0"/>
          </a:p>
        </p:txBody>
      </p:sp>
      <p:sp>
        <p:nvSpPr>
          <p:cNvPr id="180" name="Google Shape;180;p18"/>
          <p:cNvSpPr txBox="1"/>
          <p:nvPr/>
        </p:nvSpPr>
        <p:spPr>
          <a:xfrm>
            <a:off x="9189541" y="2219325"/>
            <a:ext cx="2552193" cy="253916"/>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650" b="1" i="0" u="none" strike="noStrike" cap="none" dirty="0">
                <a:solidFill>
                  <a:srgbClr val="F8FAFC"/>
                </a:solidFill>
                <a:latin typeface="Space Grotesk"/>
                <a:ea typeface="Space Grotesk"/>
                <a:cs typeface="Space Grotesk"/>
                <a:sym typeface="Space Grotesk"/>
              </a:rPr>
              <a:t>Milestone 4 </a:t>
            </a:r>
            <a:r>
              <a:rPr lang="en-US" sz="1650" b="1" i="0" u="none" strike="noStrike" cap="none" dirty="0">
                <a:solidFill>
                  <a:schemeClr val="accent1">
                    <a:lumMod val="60000"/>
                    <a:lumOff val="40000"/>
                  </a:schemeClr>
                </a:solidFill>
                <a:latin typeface="Space Grotesk"/>
                <a:ea typeface="Space Grotesk"/>
                <a:cs typeface="Space Grotesk"/>
                <a:sym typeface="Space Grotesk"/>
              </a:rPr>
              <a:t>(Weeks 7-8)</a:t>
            </a:r>
            <a:endParaRPr dirty="0">
              <a:solidFill>
                <a:schemeClr val="accent1">
                  <a:lumMod val="60000"/>
                  <a:lumOff val="40000"/>
                </a:schemeClr>
              </a:solidFill>
            </a:endParaRPr>
          </a:p>
        </p:txBody>
      </p:sp>
      <p:sp>
        <p:nvSpPr>
          <p:cNvPr id="181" name="Google Shape;181;p18"/>
          <p:cNvSpPr txBox="1"/>
          <p:nvPr/>
        </p:nvSpPr>
        <p:spPr>
          <a:xfrm>
            <a:off x="9189541" y="2956325"/>
            <a:ext cx="2430600" cy="1134900"/>
          </a:xfrm>
          <a:prstGeom prst="rect">
            <a:avLst/>
          </a:prstGeom>
          <a:noFill/>
          <a:ln>
            <a:noFill/>
          </a:ln>
        </p:spPr>
        <p:txBody>
          <a:bodyPr spcFirstLastPara="1" wrap="square" lIns="0" tIns="0" rIns="0" bIns="0" anchor="t" anchorCtr="0">
            <a:spAutoFit/>
          </a:bodyPr>
          <a:lstStyle/>
          <a:p>
            <a:pPr marL="0" marR="0" lvl="0" indent="0" algn="l" rtl="0">
              <a:lnSpc>
                <a:spcPct val="106666"/>
              </a:lnSpc>
              <a:spcBef>
                <a:spcPts val="0"/>
              </a:spcBef>
              <a:spcAft>
                <a:spcPts val="0"/>
              </a:spcAft>
              <a:buNone/>
            </a:pPr>
            <a:r>
              <a:rPr lang="en-US" b="0" i="0" u="none" strike="noStrike" cap="none">
                <a:solidFill>
                  <a:srgbClr val="F8FAFC"/>
                </a:solidFill>
                <a:latin typeface="Inter SemiBold"/>
                <a:ea typeface="Inter SemiBold"/>
                <a:cs typeface="Inter SemiBold"/>
                <a:sym typeface="Inter SemiBold"/>
              </a:rPr>
              <a:t>Release &amp; Monitoring</a:t>
            </a:r>
            <a:br>
              <a:rPr lang="en-US" sz="2000" b="0" i="0" u="none" strike="noStrike" cap="none">
                <a:solidFill>
                  <a:schemeClr val="dk1"/>
                </a:solidFill>
                <a:latin typeface="Calibri"/>
                <a:ea typeface="Calibri"/>
                <a:cs typeface="Calibri"/>
                <a:sym typeface="Calibri"/>
              </a:rPr>
            </a:br>
            <a:r>
              <a:rPr lang="en-US" b="0" i="0" u="none" strike="noStrike" cap="none">
                <a:solidFill>
                  <a:srgbClr val="94A3B8"/>
                </a:solidFill>
                <a:latin typeface="Inter"/>
                <a:ea typeface="Inter"/>
                <a:cs typeface="Inter"/>
                <a:sym typeface="Inter"/>
              </a:rPr>
              <a:t> (Deploying DevOps observability, alert management, and log analysis).</a:t>
            </a:r>
            <a:endParaRPr sz="1600"/>
          </a:p>
        </p:txBody>
      </p:sp>
      <p:sp>
        <p:nvSpPr>
          <p:cNvPr id="182" name="Google Shape;182;p18"/>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Project Milestones</a:t>
            </a:r>
            <a:endParaRPr/>
          </a:p>
        </p:txBody>
      </p:sp>
      <p:sp>
        <p:nvSpPr>
          <p:cNvPr id="183" name="Google Shape;183;p18"/>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4" name="Google Shape;184;p18"/>
          <p:cNvSpPr/>
          <p:nvPr/>
        </p:nvSpPr>
        <p:spPr>
          <a:xfrm>
            <a:off x="1691580" y="2625923"/>
            <a:ext cx="190500" cy="190500"/>
          </a:xfrm>
          <a:prstGeom prst="roundRect">
            <a:avLst>
              <a:gd name="adj" fmla="val 50000"/>
            </a:avLst>
          </a:prstGeom>
          <a:solidFill>
            <a:srgbClr val="06B6D4"/>
          </a:solidFill>
          <a:ln w="38100" cap="flat" cmpd="sng">
            <a:solidFill>
              <a:srgbClr val="0F172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5" name="Google Shape;185;p18"/>
          <p:cNvSpPr/>
          <p:nvPr/>
        </p:nvSpPr>
        <p:spPr>
          <a:xfrm>
            <a:off x="4564260" y="2625923"/>
            <a:ext cx="190500" cy="190500"/>
          </a:xfrm>
          <a:prstGeom prst="roundRect">
            <a:avLst>
              <a:gd name="adj" fmla="val 50000"/>
            </a:avLst>
          </a:prstGeom>
          <a:solidFill>
            <a:srgbClr val="06B6D4"/>
          </a:solidFill>
          <a:ln w="38100" cap="flat" cmpd="sng">
            <a:solidFill>
              <a:srgbClr val="0F172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6" name="Google Shape;186;p18"/>
          <p:cNvSpPr/>
          <p:nvPr/>
        </p:nvSpPr>
        <p:spPr>
          <a:xfrm>
            <a:off x="7436941" y="2625923"/>
            <a:ext cx="190500" cy="190500"/>
          </a:xfrm>
          <a:prstGeom prst="roundRect">
            <a:avLst>
              <a:gd name="adj" fmla="val 50000"/>
            </a:avLst>
          </a:prstGeom>
          <a:solidFill>
            <a:srgbClr val="06B6D4"/>
          </a:solidFill>
          <a:ln w="38100" cap="flat" cmpd="sng">
            <a:solidFill>
              <a:srgbClr val="0F172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7" name="Google Shape;187;p18"/>
          <p:cNvSpPr/>
          <p:nvPr/>
        </p:nvSpPr>
        <p:spPr>
          <a:xfrm>
            <a:off x="10309621" y="2625923"/>
            <a:ext cx="190500" cy="190500"/>
          </a:xfrm>
          <a:prstGeom prst="roundRect">
            <a:avLst>
              <a:gd name="adj" fmla="val 50000"/>
            </a:avLst>
          </a:prstGeom>
          <a:solidFill>
            <a:srgbClr val="06B6D4"/>
          </a:solidFill>
          <a:ln w="38100" cap="flat" cmpd="sng">
            <a:solidFill>
              <a:srgbClr val="0F172A"/>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191"/>
        <p:cNvGrpSpPr/>
        <p:nvPr/>
      </p:nvGrpSpPr>
      <p:grpSpPr>
        <a:xfrm>
          <a:off x="0" y="0"/>
          <a:ext cx="0" cy="0"/>
          <a:chOff x="0" y="0"/>
          <a:chExt cx="0" cy="0"/>
        </a:xfrm>
      </p:grpSpPr>
      <p:pic>
        <p:nvPicPr>
          <p:cNvPr id="192" name="Google Shape;192;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93" name="Google Shape;193;p19"/>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194" name="Google Shape;194;p19"/>
          <p:cNvPicPr preferRelativeResize="0"/>
          <p:nvPr/>
        </p:nvPicPr>
        <p:blipFill>
          <a:blip r:embed="rId4">
            <a:alphaModFix/>
          </a:blip>
          <a:srcRect/>
          <a:stretch/>
        </p:blipFill>
        <p:spPr>
          <a:xfrm>
            <a:off x="1333500" y="1267935"/>
            <a:ext cx="9525000" cy="4569780"/>
          </a:xfrm>
          <a:prstGeom prst="rect">
            <a:avLst/>
          </a:prstGeom>
          <a:noFill/>
          <a:ln>
            <a:noFill/>
          </a:ln>
        </p:spPr>
      </p:pic>
      <p:sp>
        <p:nvSpPr>
          <p:cNvPr id="196" name="Google Shape;196;p19"/>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Class diagram</a:t>
            </a:r>
            <a:endParaRPr/>
          </a:p>
        </p:txBody>
      </p:sp>
      <p:sp>
        <p:nvSpPr>
          <p:cNvPr id="197" name="Google Shape;197;p19"/>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20"/>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07"/>
        <p:cNvGrpSpPr/>
        <p:nvPr/>
      </p:nvGrpSpPr>
      <p:grpSpPr>
        <a:xfrm>
          <a:off x="0" y="0"/>
          <a:ext cx="0" cy="0"/>
          <a:chOff x="0" y="0"/>
          <a:chExt cx="0" cy="0"/>
        </a:xfrm>
      </p:grpSpPr>
      <p:pic>
        <p:nvPicPr>
          <p:cNvPr id="208" name="Google Shape;208;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9" name="Google Shape;209;p21"/>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0" name="Google Shape;210;p21" descr="image.png"/>
          <p:cNvPicPr preferRelativeResize="0"/>
          <p:nvPr/>
        </p:nvPicPr>
        <p:blipFill rotWithShape="1">
          <a:blip r:embed="rId4">
            <a:alphaModFix/>
          </a:blip>
          <a:srcRect/>
          <a:stretch/>
        </p:blipFill>
        <p:spPr>
          <a:xfrm>
            <a:off x="571500" y="1266825"/>
            <a:ext cx="5405437" cy="4572000"/>
          </a:xfrm>
          <a:prstGeom prst="rect">
            <a:avLst/>
          </a:prstGeom>
          <a:noFill/>
          <a:ln>
            <a:noFill/>
          </a:ln>
        </p:spPr>
      </p:pic>
      <p:pic>
        <p:nvPicPr>
          <p:cNvPr id="211" name="Google Shape;211;p21" descr="image.png"/>
          <p:cNvPicPr preferRelativeResize="0"/>
          <p:nvPr/>
        </p:nvPicPr>
        <p:blipFill rotWithShape="1">
          <a:blip r:embed="rId5">
            <a:alphaModFix/>
          </a:blip>
          <a:srcRect/>
          <a:stretch/>
        </p:blipFill>
        <p:spPr>
          <a:xfrm>
            <a:off x="6215062" y="1266825"/>
            <a:ext cx="5405437" cy="4572000"/>
          </a:xfrm>
          <a:prstGeom prst="rect">
            <a:avLst/>
          </a:prstGeom>
          <a:noFill/>
          <a:ln>
            <a:noFill/>
          </a:ln>
        </p:spPr>
      </p:pic>
      <p:pic>
        <p:nvPicPr>
          <p:cNvPr id="212" name="Google Shape;212;p21" descr="image.png"/>
          <p:cNvPicPr preferRelativeResize="0"/>
          <p:nvPr/>
        </p:nvPicPr>
        <p:blipFill rotWithShape="1">
          <a:blip r:embed="rId6">
            <a:alphaModFix/>
          </a:blip>
          <a:srcRect/>
          <a:stretch/>
        </p:blipFill>
        <p:spPr>
          <a:xfrm>
            <a:off x="581025" y="1276350"/>
            <a:ext cx="5386387" cy="4552950"/>
          </a:xfrm>
          <a:prstGeom prst="rect">
            <a:avLst/>
          </a:prstGeom>
          <a:noFill/>
          <a:ln>
            <a:noFill/>
          </a:ln>
        </p:spPr>
      </p:pic>
      <p:pic>
        <p:nvPicPr>
          <p:cNvPr id="213" name="Google Shape;213;p21" descr="image.png"/>
          <p:cNvPicPr preferRelativeResize="0"/>
          <p:nvPr/>
        </p:nvPicPr>
        <p:blipFill rotWithShape="1">
          <a:blip r:embed="rId7">
            <a:alphaModFix/>
          </a:blip>
          <a:srcRect/>
          <a:stretch/>
        </p:blipFill>
        <p:spPr>
          <a:xfrm>
            <a:off x="6224587" y="1276350"/>
            <a:ext cx="5386387" cy="4552950"/>
          </a:xfrm>
          <a:prstGeom prst="rect">
            <a:avLst/>
          </a:prstGeom>
          <a:noFill/>
          <a:ln>
            <a:noFill/>
          </a:ln>
        </p:spPr>
      </p:pic>
      <p:sp>
        <p:nvSpPr>
          <p:cNvPr id="214" name="Google Shape;214;p21"/>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Register &amp; Login</a:t>
            </a:r>
            <a:endParaRPr/>
          </a:p>
        </p:txBody>
      </p:sp>
      <p:sp>
        <p:nvSpPr>
          <p:cNvPr id="215" name="Google Shape;215;p21"/>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16" name="Google Shape;216;p21"/>
          <p:cNvPicPr preferRelativeResize="0"/>
          <p:nvPr/>
        </p:nvPicPr>
        <p:blipFill>
          <a:blip r:embed="rId8">
            <a:alphaModFix/>
          </a:blip>
          <a:stretch>
            <a:fillRect/>
          </a:stretch>
        </p:blipFill>
        <p:spPr>
          <a:xfrm>
            <a:off x="581022" y="1276350"/>
            <a:ext cx="5386375" cy="4552949"/>
          </a:xfrm>
          <a:prstGeom prst="rect">
            <a:avLst/>
          </a:prstGeom>
          <a:noFill/>
          <a:ln>
            <a:noFill/>
          </a:ln>
        </p:spPr>
      </p:pic>
      <p:pic>
        <p:nvPicPr>
          <p:cNvPr id="217" name="Google Shape;217;p21"/>
          <p:cNvPicPr preferRelativeResize="0"/>
          <p:nvPr/>
        </p:nvPicPr>
        <p:blipFill>
          <a:blip r:embed="rId9">
            <a:alphaModFix/>
          </a:blip>
          <a:stretch>
            <a:fillRect/>
          </a:stretch>
        </p:blipFill>
        <p:spPr>
          <a:xfrm>
            <a:off x="6224575" y="1276350"/>
            <a:ext cx="5386400" cy="45719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21"/>
        <p:cNvGrpSpPr/>
        <p:nvPr/>
      </p:nvGrpSpPr>
      <p:grpSpPr>
        <a:xfrm>
          <a:off x="0" y="0"/>
          <a:ext cx="0" cy="0"/>
          <a:chOff x="0" y="0"/>
          <a:chExt cx="0" cy="0"/>
        </a:xfrm>
      </p:grpSpPr>
      <p:pic>
        <p:nvPicPr>
          <p:cNvPr id="222" name="Google Shape;222;p22" descr="image.png"/>
          <p:cNvPicPr preferRelativeResize="0"/>
          <p:nvPr/>
        </p:nvPicPr>
        <p:blipFill rotWithShape="1">
          <a:blip r:embed="rId3">
            <a:alphaModFix/>
          </a:blip>
          <a:srcRect/>
          <a:stretch/>
        </p:blipFill>
        <p:spPr>
          <a:xfrm>
            <a:off x="0" y="18945"/>
            <a:ext cx="12192000" cy="6858000"/>
          </a:xfrm>
          <a:prstGeom prst="rect">
            <a:avLst/>
          </a:prstGeom>
          <a:noFill/>
          <a:ln>
            <a:noFill/>
          </a:ln>
        </p:spPr>
      </p:pic>
      <p:sp>
        <p:nvSpPr>
          <p:cNvPr id="223" name="Google Shape;223;p22"/>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22"/>
          <p:cNvSpPr txBox="1"/>
          <p:nvPr/>
        </p:nvSpPr>
        <p:spPr>
          <a:xfrm>
            <a:off x="714375" y="1055489"/>
            <a:ext cx="109061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Centralized Project Dashboard: Managing active projects, teams, status updates, and granular project settings from a unified command center.</a:t>
            </a:r>
            <a:endParaRPr/>
          </a:p>
        </p:txBody>
      </p:sp>
      <p:sp>
        <p:nvSpPr>
          <p:cNvPr id="225" name="Google Shape;225;p22"/>
          <p:cNvSpPr/>
          <p:nvPr/>
        </p:nvSpPr>
        <p:spPr>
          <a:xfrm>
            <a:off x="571500" y="1055489"/>
            <a:ext cx="28575" cy="670321"/>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26" name="Google Shape;226;p22" descr="image.png"/>
          <p:cNvPicPr preferRelativeResize="0"/>
          <p:nvPr/>
        </p:nvPicPr>
        <p:blipFill rotWithShape="1">
          <a:blip r:embed="rId4">
            <a:alphaModFix/>
          </a:blip>
          <a:srcRect/>
          <a:stretch/>
        </p:blipFill>
        <p:spPr>
          <a:xfrm>
            <a:off x="1333500" y="2011560"/>
            <a:ext cx="9525000" cy="4572000"/>
          </a:xfrm>
          <a:prstGeom prst="rect">
            <a:avLst/>
          </a:prstGeom>
          <a:noFill/>
          <a:ln>
            <a:noFill/>
          </a:ln>
        </p:spPr>
      </p:pic>
      <p:pic>
        <p:nvPicPr>
          <p:cNvPr id="227" name="Google Shape;227;p22" descr="image.png"/>
          <p:cNvPicPr preferRelativeResize="0"/>
          <p:nvPr/>
        </p:nvPicPr>
        <p:blipFill rotWithShape="1">
          <a:blip r:embed="rId5">
            <a:alphaModFix/>
          </a:blip>
          <a:srcRect/>
          <a:stretch/>
        </p:blipFill>
        <p:spPr>
          <a:xfrm>
            <a:off x="1343025" y="2021085"/>
            <a:ext cx="9505950" cy="4552950"/>
          </a:xfrm>
          <a:prstGeom prst="rect">
            <a:avLst/>
          </a:prstGeom>
          <a:noFill/>
          <a:ln>
            <a:noFill/>
          </a:ln>
        </p:spPr>
      </p:pic>
      <p:sp>
        <p:nvSpPr>
          <p:cNvPr id="228" name="Google Shape;228;p22"/>
          <p:cNvSpPr txBox="1"/>
          <p:nvPr/>
        </p:nvSpPr>
        <p:spPr>
          <a:xfrm>
            <a:off x="714375" y="264914"/>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Dashboard</a:t>
            </a:r>
            <a:endParaRPr/>
          </a:p>
        </p:txBody>
      </p:sp>
      <p:sp>
        <p:nvSpPr>
          <p:cNvPr id="229" name="Google Shape;229;p22"/>
          <p:cNvSpPr/>
          <p:nvPr/>
        </p:nvSpPr>
        <p:spPr>
          <a:xfrm>
            <a:off x="571500" y="264914"/>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30" name="Google Shape;230;p22"/>
          <p:cNvPicPr preferRelativeResize="0"/>
          <p:nvPr/>
        </p:nvPicPr>
        <p:blipFill>
          <a:blip r:embed="rId6">
            <a:alphaModFix/>
          </a:blip>
          <a:stretch>
            <a:fillRect/>
          </a:stretch>
        </p:blipFill>
        <p:spPr>
          <a:xfrm>
            <a:off x="1352550" y="1999250"/>
            <a:ext cx="9505949" cy="45720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pic>
        <p:nvPicPr>
          <p:cNvPr id="235" name="Google Shape;235;p23"/>
          <p:cNvPicPr preferRelativeResize="0"/>
          <p:nvPr/>
        </p:nvPicPr>
        <p:blipFill>
          <a:blip r:embed="rId3">
            <a:alphaModFix/>
          </a:blip>
          <a:stretch>
            <a:fillRect/>
          </a:stretch>
        </p:blipFill>
        <p:spPr>
          <a:xfrm>
            <a:off x="0" y="0"/>
            <a:ext cx="12192000" cy="6858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39"/>
        <p:cNvGrpSpPr/>
        <p:nvPr/>
      </p:nvGrpSpPr>
      <p:grpSpPr>
        <a:xfrm>
          <a:off x="0" y="0"/>
          <a:ext cx="0" cy="0"/>
          <a:chOff x="0" y="0"/>
          <a:chExt cx="0" cy="0"/>
        </a:xfrm>
      </p:grpSpPr>
      <p:sp>
        <p:nvSpPr>
          <p:cNvPr id="240" name="Google Shape;240;p24"/>
          <p:cNvSpPr/>
          <p:nvPr/>
        </p:nvSpPr>
        <p:spPr>
          <a:xfrm>
            <a:off x="0" y="6848475"/>
            <a:ext cx="12192000" cy="96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41" name="Google Shape;241;p24"/>
          <p:cNvSpPr txBox="1"/>
          <p:nvPr/>
        </p:nvSpPr>
        <p:spPr>
          <a:xfrm>
            <a:off x="733320" y="1055489"/>
            <a:ext cx="10906200" cy="2154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endParaRPr/>
          </a:p>
        </p:txBody>
      </p:sp>
      <p:sp>
        <p:nvSpPr>
          <p:cNvPr id="242" name="Google Shape;242;p24"/>
          <p:cNvSpPr txBox="1"/>
          <p:nvPr/>
        </p:nvSpPr>
        <p:spPr>
          <a:xfrm>
            <a:off x="714375" y="264914"/>
            <a:ext cx="114513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a:solidFill>
                  <a:srgbClr val="F8FAFC"/>
                </a:solidFill>
                <a:latin typeface="Space Grotesk"/>
                <a:ea typeface="Space Grotesk"/>
                <a:cs typeface="Space Grotesk"/>
                <a:sym typeface="Space Grotesk"/>
              </a:rPr>
              <a:t>Project</a:t>
            </a:r>
            <a:endParaRPr/>
          </a:p>
        </p:txBody>
      </p:sp>
      <p:sp>
        <p:nvSpPr>
          <p:cNvPr id="243" name="Google Shape;243;p24"/>
          <p:cNvSpPr/>
          <p:nvPr/>
        </p:nvSpPr>
        <p:spPr>
          <a:xfrm>
            <a:off x="571500" y="264914"/>
            <a:ext cx="47700" cy="50490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44" name="Google Shape;244;p24"/>
          <p:cNvPicPr preferRelativeResize="0"/>
          <p:nvPr/>
        </p:nvPicPr>
        <p:blipFill>
          <a:blip r:embed="rId3">
            <a:alphaModFix/>
          </a:blip>
          <a:stretch>
            <a:fillRect/>
          </a:stretch>
        </p:blipFill>
        <p:spPr>
          <a:xfrm>
            <a:off x="270425" y="945921"/>
            <a:ext cx="5951199" cy="3364601"/>
          </a:xfrm>
          <a:prstGeom prst="rect">
            <a:avLst/>
          </a:prstGeom>
          <a:noFill/>
          <a:ln>
            <a:noFill/>
          </a:ln>
        </p:spPr>
      </p:pic>
      <p:pic>
        <p:nvPicPr>
          <p:cNvPr id="245" name="Google Shape;245;p24"/>
          <p:cNvPicPr preferRelativeResize="0"/>
          <p:nvPr/>
        </p:nvPicPr>
        <p:blipFill>
          <a:blip r:embed="rId4">
            <a:alphaModFix/>
          </a:blip>
          <a:stretch>
            <a:fillRect/>
          </a:stretch>
        </p:blipFill>
        <p:spPr>
          <a:xfrm>
            <a:off x="4166850" y="4462922"/>
            <a:ext cx="7651832" cy="2233153"/>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49"/>
        <p:cNvGrpSpPr/>
        <p:nvPr/>
      </p:nvGrpSpPr>
      <p:grpSpPr>
        <a:xfrm>
          <a:off x="0" y="0"/>
          <a:ext cx="0" cy="0"/>
          <a:chOff x="0" y="0"/>
          <a:chExt cx="0" cy="0"/>
        </a:xfrm>
      </p:grpSpPr>
      <p:pic>
        <p:nvPicPr>
          <p:cNvPr id="250" name="Google Shape;250;p2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51" name="Google Shape;251;p25"/>
          <p:cNvSpPr/>
          <p:nvPr/>
        </p:nvSpPr>
        <p:spPr>
          <a:xfrm>
            <a:off x="0" y="6848475"/>
            <a:ext cx="12192000" cy="96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2" name="Google Shape;252;p25"/>
          <p:cNvSpPr txBox="1"/>
          <p:nvPr/>
        </p:nvSpPr>
        <p:spPr>
          <a:xfrm>
            <a:off x="714375" y="1266825"/>
            <a:ext cx="10906200" cy="66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Interactive Agile Kanban Board: Streamlining sprint workflows with dynamic task creation, story point estimation, and real-time lifecycle tracking.</a:t>
            </a:r>
            <a:endParaRPr/>
          </a:p>
        </p:txBody>
      </p:sp>
      <p:sp>
        <p:nvSpPr>
          <p:cNvPr id="253" name="Google Shape;253;p25"/>
          <p:cNvSpPr/>
          <p:nvPr/>
        </p:nvSpPr>
        <p:spPr>
          <a:xfrm>
            <a:off x="571500" y="1266825"/>
            <a:ext cx="28500" cy="670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4" name="Google Shape;254;p25"/>
          <p:cNvSpPr txBox="1"/>
          <p:nvPr/>
        </p:nvSpPr>
        <p:spPr>
          <a:xfrm>
            <a:off x="714375" y="476250"/>
            <a:ext cx="114513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Kanban Board</a:t>
            </a:r>
            <a:endParaRPr/>
          </a:p>
        </p:txBody>
      </p:sp>
      <p:sp>
        <p:nvSpPr>
          <p:cNvPr id="255" name="Google Shape;255;p25"/>
          <p:cNvSpPr/>
          <p:nvPr/>
        </p:nvSpPr>
        <p:spPr>
          <a:xfrm>
            <a:off x="571500" y="476250"/>
            <a:ext cx="47700" cy="50490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56" name="Google Shape;256;p25"/>
          <p:cNvPicPr preferRelativeResize="0"/>
          <p:nvPr/>
        </p:nvPicPr>
        <p:blipFill>
          <a:blip r:embed="rId4">
            <a:alphaModFix/>
          </a:blip>
          <a:stretch>
            <a:fillRect/>
          </a:stretch>
        </p:blipFill>
        <p:spPr>
          <a:xfrm>
            <a:off x="1291488" y="2059500"/>
            <a:ext cx="9609025" cy="44338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60"/>
        <p:cNvGrpSpPr/>
        <p:nvPr/>
      </p:nvGrpSpPr>
      <p:grpSpPr>
        <a:xfrm>
          <a:off x="0" y="0"/>
          <a:ext cx="0" cy="0"/>
          <a:chOff x="0" y="0"/>
          <a:chExt cx="0" cy="0"/>
        </a:xfrm>
      </p:grpSpPr>
      <p:sp>
        <p:nvSpPr>
          <p:cNvPr id="261" name="Google Shape;261;p26"/>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62" name="Google Shape;262;p26"/>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Kanban Board</a:t>
            </a:r>
            <a:endParaRPr/>
          </a:p>
        </p:txBody>
      </p:sp>
      <p:sp>
        <p:nvSpPr>
          <p:cNvPr id="263" name="Google Shape;263;p26"/>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64" name="Google Shape;264;p26"/>
          <p:cNvPicPr preferRelativeResize="0"/>
          <p:nvPr/>
        </p:nvPicPr>
        <p:blipFill>
          <a:blip r:embed="rId3">
            <a:alphaModFix/>
          </a:blip>
          <a:stretch>
            <a:fillRect/>
          </a:stretch>
        </p:blipFill>
        <p:spPr>
          <a:xfrm>
            <a:off x="2474638" y="1201625"/>
            <a:ext cx="7242725" cy="5426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68"/>
        <p:cNvGrpSpPr/>
        <p:nvPr/>
      </p:nvGrpSpPr>
      <p:grpSpPr>
        <a:xfrm>
          <a:off x="0" y="0"/>
          <a:ext cx="0" cy="0"/>
          <a:chOff x="0" y="0"/>
          <a:chExt cx="0" cy="0"/>
        </a:xfrm>
      </p:grpSpPr>
      <p:pic>
        <p:nvPicPr>
          <p:cNvPr id="269" name="Google Shape;269;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70" name="Google Shape;270;p27"/>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1" name="Google Shape;271;p27"/>
          <p:cNvSpPr txBox="1"/>
          <p:nvPr/>
        </p:nvSpPr>
        <p:spPr>
          <a:xfrm>
            <a:off x="714375" y="1055489"/>
            <a:ext cx="109061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Product Backlog Management: Seamlessly organize unscheduled tasks and assign them directly to active sprints for automated synchronization with the Kanban board.</a:t>
            </a:r>
            <a:endParaRPr/>
          </a:p>
        </p:txBody>
      </p:sp>
      <p:sp>
        <p:nvSpPr>
          <p:cNvPr id="272" name="Google Shape;272;p27"/>
          <p:cNvSpPr/>
          <p:nvPr/>
        </p:nvSpPr>
        <p:spPr>
          <a:xfrm>
            <a:off x="571500" y="1055489"/>
            <a:ext cx="28575" cy="670321"/>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73" name="Google Shape;273;p27" descr="image.png"/>
          <p:cNvPicPr preferRelativeResize="0"/>
          <p:nvPr/>
        </p:nvPicPr>
        <p:blipFill rotWithShape="1">
          <a:blip r:embed="rId4">
            <a:alphaModFix/>
          </a:blip>
          <a:srcRect/>
          <a:stretch/>
        </p:blipFill>
        <p:spPr>
          <a:xfrm>
            <a:off x="1333500" y="2011560"/>
            <a:ext cx="9525000" cy="4572000"/>
          </a:xfrm>
          <a:prstGeom prst="rect">
            <a:avLst/>
          </a:prstGeom>
          <a:noFill/>
          <a:ln>
            <a:noFill/>
          </a:ln>
        </p:spPr>
      </p:pic>
      <p:pic>
        <p:nvPicPr>
          <p:cNvPr id="274" name="Google Shape;274;p27" descr="image.png"/>
          <p:cNvPicPr preferRelativeResize="0"/>
          <p:nvPr/>
        </p:nvPicPr>
        <p:blipFill rotWithShape="1">
          <a:blip r:embed="rId5">
            <a:alphaModFix/>
          </a:blip>
          <a:srcRect/>
          <a:stretch/>
        </p:blipFill>
        <p:spPr>
          <a:xfrm>
            <a:off x="1343025" y="2021085"/>
            <a:ext cx="9505950" cy="4552950"/>
          </a:xfrm>
          <a:prstGeom prst="rect">
            <a:avLst/>
          </a:prstGeom>
          <a:noFill/>
          <a:ln>
            <a:noFill/>
          </a:ln>
        </p:spPr>
      </p:pic>
      <p:sp>
        <p:nvSpPr>
          <p:cNvPr id="275" name="Google Shape;275;p27"/>
          <p:cNvSpPr txBox="1"/>
          <p:nvPr/>
        </p:nvSpPr>
        <p:spPr>
          <a:xfrm>
            <a:off x="714375" y="264914"/>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Backlog</a:t>
            </a:r>
            <a:endParaRPr/>
          </a:p>
        </p:txBody>
      </p:sp>
      <p:sp>
        <p:nvSpPr>
          <p:cNvPr id="276" name="Google Shape;276;p27"/>
          <p:cNvSpPr/>
          <p:nvPr/>
        </p:nvSpPr>
        <p:spPr>
          <a:xfrm>
            <a:off x="571500" y="264914"/>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77" name="Google Shape;277;p27"/>
          <p:cNvPicPr preferRelativeResize="0"/>
          <p:nvPr/>
        </p:nvPicPr>
        <p:blipFill>
          <a:blip r:embed="rId6">
            <a:alphaModFix/>
          </a:blip>
          <a:stretch>
            <a:fillRect/>
          </a:stretch>
        </p:blipFill>
        <p:spPr>
          <a:xfrm>
            <a:off x="1343025" y="2015850"/>
            <a:ext cx="9505950" cy="4572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81"/>
        <p:cNvGrpSpPr/>
        <p:nvPr/>
      </p:nvGrpSpPr>
      <p:grpSpPr>
        <a:xfrm>
          <a:off x="0" y="0"/>
          <a:ext cx="0" cy="0"/>
          <a:chOff x="0" y="0"/>
          <a:chExt cx="0" cy="0"/>
        </a:xfrm>
      </p:grpSpPr>
      <p:pic>
        <p:nvPicPr>
          <p:cNvPr id="282" name="Google Shape;282;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83" name="Google Shape;283;p28"/>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84" name="Google Shape;284;p28"/>
          <p:cNvSpPr txBox="1"/>
          <p:nvPr/>
        </p:nvSpPr>
        <p:spPr>
          <a:xfrm>
            <a:off x="714375" y="1055489"/>
            <a:ext cx="109061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Sprints &amp; Milestones Management: Grouping iterative sprint cycles under structured milestones to maintain a clear roadmap and track target deadlines effectively.</a:t>
            </a:r>
            <a:endParaRPr/>
          </a:p>
        </p:txBody>
      </p:sp>
      <p:sp>
        <p:nvSpPr>
          <p:cNvPr id="285" name="Google Shape;285;p28"/>
          <p:cNvSpPr/>
          <p:nvPr/>
        </p:nvSpPr>
        <p:spPr>
          <a:xfrm>
            <a:off x="571500" y="1055489"/>
            <a:ext cx="28575" cy="670321"/>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86" name="Google Shape;286;p28" descr="image.png"/>
          <p:cNvPicPr preferRelativeResize="0"/>
          <p:nvPr/>
        </p:nvPicPr>
        <p:blipFill rotWithShape="1">
          <a:blip r:embed="rId4">
            <a:alphaModFix/>
          </a:blip>
          <a:srcRect/>
          <a:stretch/>
        </p:blipFill>
        <p:spPr>
          <a:xfrm>
            <a:off x="1333500" y="2011560"/>
            <a:ext cx="9525000" cy="4572000"/>
          </a:xfrm>
          <a:prstGeom prst="rect">
            <a:avLst/>
          </a:prstGeom>
          <a:noFill/>
          <a:ln>
            <a:noFill/>
          </a:ln>
        </p:spPr>
      </p:pic>
      <p:pic>
        <p:nvPicPr>
          <p:cNvPr id="287" name="Google Shape;287;p28" descr="image.png"/>
          <p:cNvPicPr preferRelativeResize="0"/>
          <p:nvPr/>
        </p:nvPicPr>
        <p:blipFill rotWithShape="1">
          <a:blip r:embed="rId5">
            <a:alphaModFix/>
          </a:blip>
          <a:srcRect/>
          <a:stretch/>
        </p:blipFill>
        <p:spPr>
          <a:xfrm>
            <a:off x="1343025" y="2021085"/>
            <a:ext cx="9505950" cy="4552950"/>
          </a:xfrm>
          <a:prstGeom prst="rect">
            <a:avLst/>
          </a:prstGeom>
          <a:noFill/>
          <a:ln>
            <a:noFill/>
          </a:ln>
        </p:spPr>
      </p:pic>
      <p:sp>
        <p:nvSpPr>
          <p:cNvPr id="288" name="Google Shape;288;p28"/>
          <p:cNvSpPr txBox="1"/>
          <p:nvPr/>
        </p:nvSpPr>
        <p:spPr>
          <a:xfrm>
            <a:off x="714375" y="264914"/>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Sprints &amp; Milestones</a:t>
            </a:r>
            <a:endParaRPr/>
          </a:p>
        </p:txBody>
      </p:sp>
      <p:sp>
        <p:nvSpPr>
          <p:cNvPr id="289" name="Google Shape;289;p28"/>
          <p:cNvSpPr/>
          <p:nvPr/>
        </p:nvSpPr>
        <p:spPr>
          <a:xfrm>
            <a:off x="571500" y="264914"/>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90" name="Google Shape;290;p28"/>
          <p:cNvPicPr preferRelativeResize="0"/>
          <p:nvPr/>
        </p:nvPicPr>
        <p:blipFill>
          <a:blip r:embed="rId6">
            <a:alphaModFix/>
          </a:blip>
          <a:stretch>
            <a:fillRect/>
          </a:stretch>
        </p:blipFill>
        <p:spPr>
          <a:xfrm>
            <a:off x="785825" y="1925325"/>
            <a:ext cx="10620349" cy="46582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294"/>
        <p:cNvGrpSpPr/>
        <p:nvPr/>
      </p:nvGrpSpPr>
      <p:grpSpPr>
        <a:xfrm>
          <a:off x="0" y="0"/>
          <a:ext cx="0" cy="0"/>
          <a:chOff x="0" y="0"/>
          <a:chExt cx="0" cy="0"/>
        </a:xfrm>
      </p:grpSpPr>
      <p:pic>
        <p:nvPicPr>
          <p:cNvPr id="295" name="Google Shape;295;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96" name="Google Shape;296;p29"/>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7" name="Google Shape;297;p29"/>
          <p:cNvSpPr txBox="1"/>
          <p:nvPr/>
        </p:nvSpPr>
        <p:spPr>
          <a:xfrm>
            <a:off x="714375" y="1266825"/>
            <a:ext cx="109061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Blockers Management: Flagging critical bottlenecks to halt workflow operations and route issues to a dedicated resolution queue until cleared.</a:t>
            </a:r>
            <a:endParaRPr/>
          </a:p>
        </p:txBody>
      </p:sp>
      <p:sp>
        <p:nvSpPr>
          <p:cNvPr id="298" name="Google Shape;298;p29"/>
          <p:cNvSpPr/>
          <p:nvPr/>
        </p:nvSpPr>
        <p:spPr>
          <a:xfrm>
            <a:off x="571500" y="1266825"/>
            <a:ext cx="28575" cy="670321"/>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299" name="Google Shape;299;p29" descr="image.png"/>
          <p:cNvPicPr preferRelativeResize="0"/>
          <p:nvPr/>
        </p:nvPicPr>
        <p:blipFill rotWithShape="1">
          <a:blip r:embed="rId4">
            <a:alphaModFix/>
          </a:blip>
          <a:srcRect/>
          <a:stretch/>
        </p:blipFill>
        <p:spPr>
          <a:xfrm>
            <a:off x="571500" y="2222896"/>
            <a:ext cx="5405437" cy="4149328"/>
          </a:xfrm>
          <a:prstGeom prst="rect">
            <a:avLst/>
          </a:prstGeom>
          <a:noFill/>
          <a:ln>
            <a:noFill/>
          </a:ln>
        </p:spPr>
      </p:pic>
      <p:pic>
        <p:nvPicPr>
          <p:cNvPr id="300" name="Google Shape;300;p29" descr="image.png"/>
          <p:cNvPicPr preferRelativeResize="0"/>
          <p:nvPr/>
        </p:nvPicPr>
        <p:blipFill rotWithShape="1">
          <a:blip r:embed="rId5">
            <a:alphaModFix/>
          </a:blip>
          <a:srcRect/>
          <a:stretch/>
        </p:blipFill>
        <p:spPr>
          <a:xfrm>
            <a:off x="6215062" y="2222896"/>
            <a:ext cx="5405437" cy="4149328"/>
          </a:xfrm>
          <a:prstGeom prst="rect">
            <a:avLst/>
          </a:prstGeom>
          <a:noFill/>
          <a:ln>
            <a:noFill/>
          </a:ln>
        </p:spPr>
      </p:pic>
      <p:pic>
        <p:nvPicPr>
          <p:cNvPr id="301" name="Google Shape;301;p29" descr="image.png"/>
          <p:cNvPicPr preferRelativeResize="0"/>
          <p:nvPr/>
        </p:nvPicPr>
        <p:blipFill rotWithShape="1">
          <a:blip r:embed="rId6">
            <a:alphaModFix/>
          </a:blip>
          <a:srcRect/>
          <a:stretch/>
        </p:blipFill>
        <p:spPr>
          <a:xfrm>
            <a:off x="581025" y="2232421"/>
            <a:ext cx="5386387" cy="4130278"/>
          </a:xfrm>
          <a:prstGeom prst="rect">
            <a:avLst/>
          </a:prstGeom>
          <a:noFill/>
          <a:ln>
            <a:noFill/>
          </a:ln>
        </p:spPr>
      </p:pic>
      <p:pic>
        <p:nvPicPr>
          <p:cNvPr id="302" name="Google Shape;302;p29" descr="image.png"/>
          <p:cNvPicPr preferRelativeResize="0"/>
          <p:nvPr/>
        </p:nvPicPr>
        <p:blipFill rotWithShape="1">
          <a:blip r:embed="rId7">
            <a:alphaModFix/>
          </a:blip>
          <a:srcRect/>
          <a:stretch/>
        </p:blipFill>
        <p:spPr>
          <a:xfrm>
            <a:off x="6224587" y="2232421"/>
            <a:ext cx="5386387" cy="4130278"/>
          </a:xfrm>
          <a:prstGeom prst="rect">
            <a:avLst/>
          </a:prstGeom>
          <a:noFill/>
          <a:ln>
            <a:noFill/>
          </a:ln>
        </p:spPr>
      </p:pic>
      <p:sp>
        <p:nvSpPr>
          <p:cNvPr id="303" name="Google Shape;303;p29"/>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Blockers</a:t>
            </a:r>
            <a:endParaRPr/>
          </a:p>
        </p:txBody>
      </p:sp>
      <p:sp>
        <p:nvSpPr>
          <p:cNvPr id="304" name="Google Shape;304;p29"/>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05" name="Google Shape;305;p29"/>
          <p:cNvPicPr preferRelativeResize="0"/>
          <p:nvPr/>
        </p:nvPicPr>
        <p:blipFill>
          <a:blip r:embed="rId8">
            <a:alphaModFix/>
          </a:blip>
          <a:stretch>
            <a:fillRect/>
          </a:stretch>
        </p:blipFill>
        <p:spPr>
          <a:xfrm>
            <a:off x="581025" y="2232425"/>
            <a:ext cx="5405451" cy="4130275"/>
          </a:xfrm>
          <a:prstGeom prst="rect">
            <a:avLst/>
          </a:prstGeom>
          <a:noFill/>
          <a:ln>
            <a:noFill/>
          </a:ln>
        </p:spPr>
      </p:pic>
      <p:pic>
        <p:nvPicPr>
          <p:cNvPr id="306" name="Google Shape;306;p29"/>
          <p:cNvPicPr preferRelativeResize="0"/>
          <p:nvPr/>
        </p:nvPicPr>
        <p:blipFill>
          <a:blip r:embed="rId9">
            <a:alphaModFix/>
          </a:blip>
          <a:stretch>
            <a:fillRect/>
          </a:stretch>
        </p:blipFill>
        <p:spPr>
          <a:xfrm>
            <a:off x="6234100" y="2232425"/>
            <a:ext cx="5386401" cy="41302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10"/>
        <p:cNvGrpSpPr/>
        <p:nvPr/>
      </p:nvGrpSpPr>
      <p:grpSpPr>
        <a:xfrm>
          <a:off x="0" y="0"/>
          <a:ext cx="0" cy="0"/>
          <a:chOff x="0" y="0"/>
          <a:chExt cx="0" cy="0"/>
        </a:xfrm>
      </p:grpSpPr>
      <p:pic>
        <p:nvPicPr>
          <p:cNvPr id="311" name="Google Shape;311;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12" name="Google Shape;312;p30"/>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3" name="Google Shape;313;p30"/>
          <p:cNvSpPr txBox="1"/>
          <p:nvPr/>
        </p:nvSpPr>
        <p:spPr>
          <a:xfrm>
            <a:off x="714375" y="1266825"/>
            <a:ext cx="109061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Sprint Analytics &amp; Burndown: Tracking velocity, committed vs. completed story points, and daily burn-down progress to monitor project health in real-time.</a:t>
            </a:r>
            <a:endParaRPr/>
          </a:p>
        </p:txBody>
      </p:sp>
      <p:sp>
        <p:nvSpPr>
          <p:cNvPr id="314" name="Google Shape;314;p30"/>
          <p:cNvSpPr/>
          <p:nvPr/>
        </p:nvSpPr>
        <p:spPr>
          <a:xfrm>
            <a:off x="571500" y="1266825"/>
            <a:ext cx="28575" cy="670321"/>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15" name="Google Shape;315;p30" descr="image.png"/>
          <p:cNvPicPr preferRelativeResize="0"/>
          <p:nvPr/>
        </p:nvPicPr>
        <p:blipFill rotWithShape="1">
          <a:blip r:embed="rId4">
            <a:alphaModFix/>
          </a:blip>
          <a:srcRect/>
          <a:stretch/>
        </p:blipFill>
        <p:spPr>
          <a:xfrm>
            <a:off x="571500" y="2222896"/>
            <a:ext cx="5405437" cy="4149328"/>
          </a:xfrm>
          <a:prstGeom prst="rect">
            <a:avLst/>
          </a:prstGeom>
          <a:noFill/>
          <a:ln>
            <a:noFill/>
          </a:ln>
        </p:spPr>
      </p:pic>
      <p:pic>
        <p:nvPicPr>
          <p:cNvPr id="316" name="Google Shape;316;p30" descr="image.png"/>
          <p:cNvPicPr preferRelativeResize="0"/>
          <p:nvPr/>
        </p:nvPicPr>
        <p:blipFill rotWithShape="1">
          <a:blip r:embed="rId5">
            <a:alphaModFix/>
          </a:blip>
          <a:srcRect/>
          <a:stretch/>
        </p:blipFill>
        <p:spPr>
          <a:xfrm>
            <a:off x="6215062" y="2222896"/>
            <a:ext cx="5405437" cy="4149328"/>
          </a:xfrm>
          <a:prstGeom prst="rect">
            <a:avLst/>
          </a:prstGeom>
          <a:noFill/>
          <a:ln>
            <a:noFill/>
          </a:ln>
        </p:spPr>
      </p:pic>
      <p:pic>
        <p:nvPicPr>
          <p:cNvPr id="317" name="Google Shape;317;p30" descr="image.png"/>
          <p:cNvPicPr preferRelativeResize="0"/>
          <p:nvPr/>
        </p:nvPicPr>
        <p:blipFill rotWithShape="1">
          <a:blip r:embed="rId6">
            <a:alphaModFix/>
          </a:blip>
          <a:srcRect/>
          <a:stretch/>
        </p:blipFill>
        <p:spPr>
          <a:xfrm>
            <a:off x="581025" y="2232421"/>
            <a:ext cx="5386387" cy="4130278"/>
          </a:xfrm>
          <a:prstGeom prst="rect">
            <a:avLst/>
          </a:prstGeom>
          <a:noFill/>
          <a:ln>
            <a:noFill/>
          </a:ln>
        </p:spPr>
      </p:pic>
      <p:pic>
        <p:nvPicPr>
          <p:cNvPr id="318" name="Google Shape;318;p30" descr="image.png"/>
          <p:cNvPicPr preferRelativeResize="0"/>
          <p:nvPr/>
        </p:nvPicPr>
        <p:blipFill rotWithShape="1">
          <a:blip r:embed="rId7">
            <a:alphaModFix/>
          </a:blip>
          <a:srcRect/>
          <a:stretch/>
        </p:blipFill>
        <p:spPr>
          <a:xfrm>
            <a:off x="6224587" y="2232421"/>
            <a:ext cx="5386387" cy="4130278"/>
          </a:xfrm>
          <a:prstGeom prst="rect">
            <a:avLst/>
          </a:prstGeom>
          <a:noFill/>
          <a:ln>
            <a:noFill/>
          </a:ln>
        </p:spPr>
      </p:pic>
      <p:sp>
        <p:nvSpPr>
          <p:cNvPr id="319" name="Google Shape;319;p30"/>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Reports</a:t>
            </a:r>
            <a:endParaRPr/>
          </a:p>
        </p:txBody>
      </p:sp>
      <p:sp>
        <p:nvSpPr>
          <p:cNvPr id="320" name="Google Shape;320;p30"/>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21" name="Google Shape;321;p30"/>
          <p:cNvPicPr preferRelativeResize="0"/>
          <p:nvPr/>
        </p:nvPicPr>
        <p:blipFill>
          <a:blip r:embed="rId8">
            <a:alphaModFix/>
          </a:blip>
          <a:stretch>
            <a:fillRect/>
          </a:stretch>
        </p:blipFill>
        <p:spPr>
          <a:xfrm>
            <a:off x="581025" y="2222900"/>
            <a:ext cx="5405450" cy="4149326"/>
          </a:xfrm>
          <a:prstGeom prst="rect">
            <a:avLst/>
          </a:prstGeom>
          <a:noFill/>
          <a:ln>
            <a:noFill/>
          </a:ln>
        </p:spPr>
      </p:pic>
      <p:pic>
        <p:nvPicPr>
          <p:cNvPr id="322" name="Google Shape;322;p30"/>
          <p:cNvPicPr preferRelativeResize="0"/>
          <p:nvPr/>
        </p:nvPicPr>
        <p:blipFill>
          <a:blip r:embed="rId9">
            <a:alphaModFix/>
          </a:blip>
          <a:stretch>
            <a:fillRect/>
          </a:stretch>
        </p:blipFill>
        <p:spPr>
          <a:xfrm>
            <a:off x="6118100" y="2222900"/>
            <a:ext cx="5552376" cy="41302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26"/>
        <p:cNvGrpSpPr/>
        <p:nvPr/>
      </p:nvGrpSpPr>
      <p:grpSpPr>
        <a:xfrm>
          <a:off x="0" y="0"/>
          <a:ext cx="0" cy="0"/>
          <a:chOff x="0" y="0"/>
          <a:chExt cx="0" cy="0"/>
        </a:xfrm>
      </p:grpSpPr>
      <p:pic>
        <p:nvPicPr>
          <p:cNvPr id="327" name="Google Shape;327;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28" name="Google Shape;328;p31"/>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9" name="Google Shape;329;p31"/>
          <p:cNvSpPr txBox="1"/>
          <p:nvPr/>
        </p:nvSpPr>
        <p:spPr>
          <a:xfrm>
            <a:off x="714375" y="1055489"/>
            <a:ext cx="109061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GitHub Integration &amp; Project Settings: Linking remote repositories with secure webhooks and personal access tokens to power automated CI/CD workflows and manage granular project configurations.</a:t>
            </a:r>
            <a:endParaRPr/>
          </a:p>
        </p:txBody>
      </p:sp>
      <p:sp>
        <p:nvSpPr>
          <p:cNvPr id="330" name="Google Shape;330;p31"/>
          <p:cNvSpPr/>
          <p:nvPr/>
        </p:nvSpPr>
        <p:spPr>
          <a:xfrm>
            <a:off x="571500" y="1055489"/>
            <a:ext cx="28575" cy="670321"/>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31" name="Google Shape;331;p31" descr="image.png"/>
          <p:cNvPicPr preferRelativeResize="0"/>
          <p:nvPr/>
        </p:nvPicPr>
        <p:blipFill rotWithShape="1">
          <a:blip r:embed="rId4">
            <a:alphaModFix/>
          </a:blip>
          <a:srcRect/>
          <a:stretch/>
        </p:blipFill>
        <p:spPr>
          <a:xfrm>
            <a:off x="1333500" y="2011560"/>
            <a:ext cx="9525000" cy="4572000"/>
          </a:xfrm>
          <a:prstGeom prst="rect">
            <a:avLst/>
          </a:prstGeom>
          <a:noFill/>
          <a:ln>
            <a:noFill/>
          </a:ln>
        </p:spPr>
      </p:pic>
      <p:pic>
        <p:nvPicPr>
          <p:cNvPr id="332" name="Google Shape;332;p31" descr="image.png"/>
          <p:cNvPicPr preferRelativeResize="0"/>
          <p:nvPr/>
        </p:nvPicPr>
        <p:blipFill rotWithShape="1">
          <a:blip r:embed="rId5">
            <a:alphaModFix/>
          </a:blip>
          <a:srcRect/>
          <a:stretch/>
        </p:blipFill>
        <p:spPr>
          <a:xfrm>
            <a:off x="1343025" y="2021085"/>
            <a:ext cx="9505950" cy="4552950"/>
          </a:xfrm>
          <a:prstGeom prst="rect">
            <a:avLst/>
          </a:prstGeom>
          <a:noFill/>
          <a:ln>
            <a:noFill/>
          </a:ln>
        </p:spPr>
      </p:pic>
      <p:sp>
        <p:nvSpPr>
          <p:cNvPr id="333" name="Google Shape;333;p31"/>
          <p:cNvSpPr txBox="1"/>
          <p:nvPr/>
        </p:nvSpPr>
        <p:spPr>
          <a:xfrm>
            <a:off x="714375" y="264914"/>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Settings</a:t>
            </a:r>
            <a:endParaRPr/>
          </a:p>
        </p:txBody>
      </p:sp>
      <p:sp>
        <p:nvSpPr>
          <p:cNvPr id="334" name="Google Shape;334;p31"/>
          <p:cNvSpPr/>
          <p:nvPr/>
        </p:nvSpPr>
        <p:spPr>
          <a:xfrm>
            <a:off x="571500" y="264914"/>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35" name="Google Shape;335;p31"/>
          <p:cNvPicPr preferRelativeResize="0"/>
          <p:nvPr/>
        </p:nvPicPr>
        <p:blipFill>
          <a:blip r:embed="rId6">
            <a:alphaModFix/>
          </a:blip>
          <a:stretch>
            <a:fillRect/>
          </a:stretch>
        </p:blipFill>
        <p:spPr>
          <a:xfrm>
            <a:off x="1343025" y="2002025"/>
            <a:ext cx="9505949" cy="464406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39"/>
        <p:cNvGrpSpPr/>
        <p:nvPr/>
      </p:nvGrpSpPr>
      <p:grpSpPr>
        <a:xfrm>
          <a:off x="0" y="0"/>
          <a:ext cx="0" cy="0"/>
          <a:chOff x="0" y="0"/>
          <a:chExt cx="0" cy="0"/>
        </a:xfrm>
      </p:grpSpPr>
      <p:pic>
        <p:nvPicPr>
          <p:cNvPr id="340" name="Google Shape;340;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41" name="Google Shape;341;p32"/>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2" name="Google Shape;342;p32"/>
          <p:cNvSpPr txBox="1"/>
          <p:nvPr/>
        </p:nvSpPr>
        <p:spPr>
          <a:xfrm>
            <a:off x="714375" y="1055489"/>
            <a:ext cx="109061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CI/CD Pipeline &amp; Deployment Dashboard: Automatically trigger builds and monitor real-time build histories, commit branches, and deployment metrics across environments.</a:t>
            </a:r>
            <a:endParaRPr/>
          </a:p>
        </p:txBody>
      </p:sp>
      <p:sp>
        <p:nvSpPr>
          <p:cNvPr id="343" name="Google Shape;343;p32"/>
          <p:cNvSpPr/>
          <p:nvPr/>
        </p:nvSpPr>
        <p:spPr>
          <a:xfrm>
            <a:off x="571500" y="1055489"/>
            <a:ext cx="28575" cy="670321"/>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44" name="Google Shape;344;p32" descr="image.png"/>
          <p:cNvPicPr preferRelativeResize="0"/>
          <p:nvPr/>
        </p:nvPicPr>
        <p:blipFill rotWithShape="1">
          <a:blip r:embed="rId4">
            <a:alphaModFix/>
          </a:blip>
          <a:srcRect/>
          <a:stretch/>
        </p:blipFill>
        <p:spPr>
          <a:xfrm>
            <a:off x="1333500" y="2011560"/>
            <a:ext cx="9525000" cy="4572000"/>
          </a:xfrm>
          <a:prstGeom prst="rect">
            <a:avLst/>
          </a:prstGeom>
          <a:noFill/>
          <a:ln>
            <a:noFill/>
          </a:ln>
        </p:spPr>
      </p:pic>
      <p:pic>
        <p:nvPicPr>
          <p:cNvPr id="345" name="Google Shape;345;p32" descr="image.png"/>
          <p:cNvPicPr preferRelativeResize="0"/>
          <p:nvPr/>
        </p:nvPicPr>
        <p:blipFill rotWithShape="1">
          <a:blip r:embed="rId5">
            <a:alphaModFix/>
          </a:blip>
          <a:srcRect/>
          <a:stretch/>
        </p:blipFill>
        <p:spPr>
          <a:xfrm>
            <a:off x="1343025" y="2021085"/>
            <a:ext cx="9505950" cy="4552950"/>
          </a:xfrm>
          <a:prstGeom prst="rect">
            <a:avLst/>
          </a:prstGeom>
          <a:noFill/>
          <a:ln>
            <a:noFill/>
          </a:ln>
        </p:spPr>
      </p:pic>
      <p:sp>
        <p:nvSpPr>
          <p:cNvPr id="346" name="Google Shape;346;p32"/>
          <p:cNvSpPr txBox="1"/>
          <p:nvPr/>
        </p:nvSpPr>
        <p:spPr>
          <a:xfrm>
            <a:off x="714375" y="264914"/>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Pipelines &amp; Deployements</a:t>
            </a:r>
            <a:endParaRPr/>
          </a:p>
        </p:txBody>
      </p:sp>
      <p:sp>
        <p:nvSpPr>
          <p:cNvPr id="347" name="Google Shape;347;p32"/>
          <p:cNvSpPr/>
          <p:nvPr/>
        </p:nvSpPr>
        <p:spPr>
          <a:xfrm>
            <a:off x="571500" y="264914"/>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48" name="Google Shape;348;p32"/>
          <p:cNvPicPr preferRelativeResize="0"/>
          <p:nvPr/>
        </p:nvPicPr>
        <p:blipFill>
          <a:blip r:embed="rId6">
            <a:alphaModFix/>
          </a:blip>
          <a:stretch>
            <a:fillRect/>
          </a:stretch>
        </p:blipFill>
        <p:spPr>
          <a:xfrm>
            <a:off x="1343025" y="1932200"/>
            <a:ext cx="9505949" cy="47098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52"/>
        <p:cNvGrpSpPr/>
        <p:nvPr/>
      </p:nvGrpSpPr>
      <p:grpSpPr>
        <a:xfrm>
          <a:off x="0" y="0"/>
          <a:ext cx="0" cy="0"/>
          <a:chOff x="0" y="0"/>
          <a:chExt cx="0" cy="0"/>
        </a:xfrm>
      </p:grpSpPr>
      <p:pic>
        <p:nvPicPr>
          <p:cNvPr id="353" name="Google Shape;353;p3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54" name="Google Shape;354;p33"/>
          <p:cNvSpPr/>
          <p:nvPr/>
        </p:nvSpPr>
        <p:spPr>
          <a:xfrm>
            <a:off x="0" y="6848475"/>
            <a:ext cx="12192000" cy="96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5" name="Google Shape;355;p33"/>
          <p:cNvSpPr txBox="1"/>
          <p:nvPr/>
        </p:nvSpPr>
        <p:spPr>
          <a:xfrm>
            <a:off x="714375" y="1055489"/>
            <a:ext cx="10906200" cy="6603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Release History &amp; Blue-Green Deployments: Managing environment slots, tracking release versions, and maintaining zero-downtime deployment visibility.</a:t>
            </a:r>
            <a:endParaRPr/>
          </a:p>
        </p:txBody>
      </p:sp>
      <p:sp>
        <p:nvSpPr>
          <p:cNvPr id="356" name="Google Shape;356;p33"/>
          <p:cNvSpPr/>
          <p:nvPr/>
        </p:nvSpPr>
        <p:spPr>
          <a:xfrm>
            <a:off x="571500" y="1055489"/>
            <a:ext cx="28500" cy="670200"/>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7" name="Google Shape;357;p33"/>
          <p:cNvSpPr txBox="1"/>
          <p:nvPr/>
        </p:nvSpPr>
        <p:spPr>
          <a:xfrm>
            <a:off x="714375" y="264914"/>
            <a:ext cx="114513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Release &amp; Monitoring</a:t>
            </a:r>
            <a:endParaRPr/>
          </a:p>
        </p:txBody>
      </p:sp>
      <p:sp>
        <p:nvSpPr>
          <p:cNvPr id="358" name="Google Shape;358;p33"/>
          <p:cNvSpPr/>
          <p:nvPr/>
        </p:nvSpPr>
        <p:spPr>
          <a:xfrm>
            <a:off x="571500" y="264914"/>
            <a:ext cx="47700" cy="50490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59" name="Google Shape;359;p33"/>
          <p:cNvPicPr preferRelativeResize="0"/>
          <p:nvPr/>
        </p:nvPicPr>
        <p:blipFill>
          <a:blip r:embed="rId4">
            <a:alphaModFix/>
          </a:blip>
          <a:stretch>
            <a:fillRect/>
          </a:stretch>
        </p:blipFill>
        <p:spPr>
          <a:xfrm>
            <a:off x="776100" y="1959838"/>
            <a:ext cx="10639799" cy="4644599"/>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63"/>
        <p:cNvGrpSpPr/>
        <p:nvPr/>
      </p:nvGrpSpPr>
      <p:grpSpPr>
        <a:xfrm>
          <a:off x="0" y="0"/>
          <a:ext cx="0" cy="0"/>
          <a:chOff x="0" y="0"/>
          <a:chExt cx="0" cy="0"/>
        </a:xfrm>
      </p:grpSpPr>
      <p:pic>
        <p:nvPicPr>
          <p:cNvPr id="364" name="Google Shape;364;p34" descr="image.png"/>
          <p:cNvPicPr preferRelativeResize="0"/>
          <p:nvPr/>
        </p:nvPicPr>
        <p:blipFill rotWithShape="1">
          <a:blip r:embed="rId3">
            <a:alphaModFix/>
          </a:blip>
          <a:srcRect/>
          <a:stretch/>
        </p:blipFill>
        <p:spPr>
          <a:xfrm>
            <a:off x="0" y="16727"/>
            <a:ext cx="12192000" cy="6858000"/>
          </a:xfrm>
          <a:prstGeom prst="rect">
            <a:avLst/>
          </a:prstGeom>
          <a:noFill/>
          <a:ln>
            <a:noFill/>
          </a:ln>
        </p:spPr>
      </p:pic>
      <p:sp>
        <p:nvSpPr>
          <p:cNvPr id="365" name="Google Shape;365;p34"/>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4" name="Google Shape;374;p34"/>
          <p:cNvSpPr txBox="1"/>
          <p:nvPr/>
        </p:nvSpPr>
        <p:spPr>
          <a:xfrm>
            <a:off x="714375" y="264914"/>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Release &amp; Monitoring</a:t>
            </a:r>
            <a:endParaRPr/>
          </a:p>
        </p:txBody>
      </p:sp>
      <p:sp>
        <p:nvSpPr>
          <p:cNvPr id="375" name="Google Shape;375;p34"/>
          <p:cNvSpPr/>
          <p:nvPr/>
        </p:nvSpPr>
        <p:spPr>
          <a:xfrm>
            <a:off x="571500" y="264914"/>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76" name="Google Shape;376;p34"/>
          <p:cNvPicPr preferRelativeResize="0"/>
          <p:nvPr/>
        </p:nvPicPr>
        <p:blipFill>
          <a:blip r:embed="rId4">
            <a:alphaModFix/>
          </a:blip>
          <a:stretch>
            <a:fillRect/>
          </a:stretch>
        </p:blipFill>
        <p:spPr>
          <a:xfrm>
            <a:off x="390525" y="1234615"/>
            <a:ext cx="5410201" cy="2567363"/>
          </a:xfrm>
          <a:prstGeom prst="rect">
            <a:avLst/>
          </a:prstGeom>
          <a:noFill/>
          <a:ln>
            <a:noFill/>
          </a:ln>
        </p:spPr>
      </p:pic>
      <p:pic>
        <p:nvPicPr>
          <p:cNvPr id="377" name="Google Shape;377;p34"/>
          <p:cNvPicPr preferRelativeResize="0"/>
          <p:nvPr/>
        </p:nvPicPr>
        <p:blipFill>
          <a:blip r:embed="rId5">
            <a:alphaModFix/>
          </a:blip>
          <a:stretch>
            <a:fillRect/>
          </a:stretch>
        </p:blipFill>
        <p:spPr>
          <a:xfrm>
            <a:off x="6210300" y="1234616"/>
            <a:ext cx="5410200" cy="2567362"/>
          </a:xfrm>
          <a:prstGeom prst="rect">
            <a:avLst/>
          </a:prstGeom>
          <a:noFill/>
          <a:ln>
            <a:noFill/>
          </a:ln>
        </p:spPr>
      </p:pic>
      <p:pic>
        <p:nvPicPr>
          <p:cNvPr id="378" name="Google Shape;378;p34"/>
          <p:cNvPicPr preferRelativeResize="0"/>
          <p:nvPr/>
        </p:nvPicPr>
        <p:blipFill>
          <a:blip r:embed="rId6">
            <a:alphaModFix/>
          </a:blip>
          <a:stretch>
            <a:fillRect/>
          </a:stretch>
        </p:blipFill>
        <p:spPr>
          <a:xfrm>
            <a:off x="381000" y="4174958"/>
            <a:ext cx="5410199" cy="2372825"/>
          </a:xfrm>
          <a:prstGeom prst="rect">
            <a:avLst/>
          </a:prstGeom>
          <a:noFill/>
          <a:ln>
            <a:noFill/>
          </a:ln>
        </p:spPr>
      </p:pic>
      <p:pic>
        <p:nvPicPr>
          <p:cNvPr id="379" name="Google Shape;379;p34"/>
          <p:cNvPicPr preferRelativeResize="0"/>
          <p:nvPr/>
        </p:nvPicPr>
        <p:blipFill>
          <a:blip r:embed="rId7">
            <a:alphaModFix/>
          </a:blip>
          <a:stretch>
            <a:fillRect/>
          </a:stretch>
        </p:blipFill>
        <p:spPr>
          <a:xfrm>
            <a:off x="6172199" y="4174957"/>
            <a:ext cx="5410201" cy="23728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83"/>
        <p:cNvGrpSpPr/>
        <p:nvPr/>
      </p:nvGrpSpPr>
      <p:grpSpPr>
        <a:xfrm>
          <a:off x="0" y="0"/>
          <a:ext cx="0" cy="0"/>
          <a:chOff x="0" y="0"/>
          <a:chExt cx="0" cy="0"/>
        </a:xfrm>
      </p:grpSpPr>
      <p:pic>
        <p:nvPicPr>
          <p:cNvPr id="384" name="Google Shape;384;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85" name="Google Shape;385;p35"/>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6" name="Google Shape;386;p35"/>
          <p:cNvSpPr txBox="1"/>
          <p:nvPr/>
        </p:nvSpPr>
        <p:spPr>
          <a:xfrm>
            <a:off x="714375" y="1266825"/>
            <a:ext cx="109061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Team Management &amp; Staffing: Organizing registered platform users into specialized teams like Backend, Frontend, and Database to streamline project assignments.</a:t>
            </a:r>
            <a:endParaRPr/>
          </a:p>
        </p:txBody>
      </p:sp>
      <p:sp>
        <p:nvSpPr>
          <p:cNvPr id="387" name="Google Shape;387;p35"/>
          <p:cNvSpPr/>
          <p:nvPr/>
        </p:nvSpPr>
        <p:spPr>
          <a:xfrm>
            <a:off x="571500" y="1266825"/>
            <a:ext cx="28575" cy="670321"/>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8" name="Google Shape;388;p35"/>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Teams</a:t>
            </a:r>
            <a:endParaRPr/>
          </a:p>
        </p:txBody>
      </p:sp>
      <p:sp>
        <p:nvSpPr>
          <p:cNvPr id="389" name="Google Shape;389;p35"/>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90" name="Google Shape;390;p35"/>
          <p:cNvPicPr preferRelativeResize="0"/>
          <p:nvPr/>
        </p:nvPicPr>
        <p:blipFill>
          <a:blip r:embed="rId4">
            <a:alphaModFix/>
          </a:blip>
          <a:stretch>
            <a:fillRect/>
          </a:stretch>
        </p:blipFill>
        <p:spPr>
          <a:xfrm>
            <a:off x="742950" y="2222888"/>
            <a:ext cx="10706100" cy="40671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394"/>
        <p:cNvGrpSpPr/>
        <p:nvPr/>
      </p:nvGrpSpPr>
      <p:grpSpPr>
        <a:xfrm>
          <a:off x="0" y="0"/>
          <a:ext cx="0" cy="0"/>
          <a:chOff x="0" y="0"/>
          <a:chExt cx="0" cy="0"/>
        </a:xfrm>
      </p:grpSpPr>
      <p:pic>
        <p:nvPicPr>
          <p:cNvPr id="395" name="Google Shape;395;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396" name="Google Shape;396;p36"/>
          <p:cNvSpPr/>
          <p:nvPr/>
        </p:nvSpPr>
        <p:spPr>
          <a:xfrm>
            <a:off x="0" y="6848475"/>
            <a:ext cx="12192000" cy="9600"/>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7" name="Google Shape;397;p36"/>
          <p:cNvSpPr txBox="1"/>
          <p:nvPr/>
        </p:nvSpPr>
        <p:spPr>
          <a:xfrm>
            <a:off x="714375" y="476250"/>
            <a:ext cx="11451300" cy="484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Teams</a:t>
            </a:r>
            <a:endParaRPr/>
          </a:p>
        </p:txBody>
      </p:sp>
      <p:sp>
        <p:nvSpPr>
          <p:cNvPr id="398" name="Google Shape;398;p36"/>
          <p:cNvSpPr/>
          <p:nvPr/>
        </p:nvSpPr>
        <p:spPr>
          <a:xfrm>
            <a:off x="571500" y="476250"/>
            <a:ext cx="47700" cy="504900"/>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399" name="Google Shape;399;p36"/>
          <p:cNvPicPr preferRelativeResize="0"/>
          <p:nvPr/>
        </p:nvPicPr>
        <p:blipFill>
          <a:blip r:embed="rId4">
            <a:alphaModFix/>
          </a:blip>
          <a:stretch>
            <a:fillRect/>
          </a:stretch>
        </p:blipFill>
        <p:spPr>
          <a:xfrm>
            <a:off x="619200" y="1358825"/>
            <a:ext cx="5278625" cy="4926525"/>
          </a:xfrm>
          <a:prstGeom prst="rect">
            <a:avLst/>
          </a:prstGeom>
          <a:noFill/>
          <a:ln>
            <a:noFill/>
          </a:ln>
        </p:spPr>
      </p:pic>
      <p:pic>
        <p:nvPicPr>
          <p:cNvPr id="400" name="Google Shape;400;p36"/>
          <p:cNvPicPr preferRelativeResize="0"/>
          <p:nvPr/>
        </p:nvPicPr>
        <p:blipFill>
          <a:blip r:embed="rId5">
            <a:alphaModFix/>
          </a:blip>
          <a:stretch>
            <a:fillRect/>
          </a:stretch>
        </p:blipFill>
        <p:spPr>
          <a:xfrm>
            <a:off x="6372075" y="1358825"/>
            <a:ext cx="5278625" cy="49265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04"/>
        <p:cNvGrpSpPr/>
        <p:nvPr/>
      </p:nvGrpSpPr>
      <p:grpSpPr>
        <a:xfrm>
          <a:off x="0" y="0"/>
          <a:ext cx="0" cy="0"/>
          <a:chOff x="0" y="0"/>
          <a:chExt cx="0" cy="0"/>
        </a:xfrm>
      </p:grpSpPr>
      <p:pic>
        <p:nvPicPr>
          <p:cNvPr id="405" name="Google Shape;405;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06" name="Google Shape;406;p37"/>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7" name="Google Shape;407;p37"/>
          <p:cNvSpPr txBox="1"/>
          <p:nvPr/>
        </p:nvSpPr>
        <p:spPr>
          <a:xfrm>
            <a:off x="714375" y="1055489"/>
            <a:ext cx="109061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User Management &amp; Role Assignment: Centralized directory allowing administrators and project managers to view registered accounts, filter by roles, and manage team allocations dynamically.</a:t>
            </a:r>
            <a:endParaRPr/>
          </a:p>
        </p:txBody>
      </p:sp>
      <p:sp>
        <p:nvSpPr>
          <p:cNvPr id="408" name="Google Shape;408;p37"/>
          <p:cNvSpPr/>
          <p:nvPr/>
        </p:nvSpPr>
        <p:spPr>
          <a:xfrm>
            <a:off x="571500" y="1055489"/>
            <a:ext cx="28575" cy="670321"/>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09" name="Google Shape;409;p37" descr="image.png"/>
          <p:cNvPicPr preferRelativeResize="0"/>
          <p:nvPr/>
        </p:nvPicPr>
        <p:blipFill rotWithShape="1">
          <a:blip r:embed="rId4">
            <a:alphaModFix/>
          </a:blip>
          <a:srcRect/>
          <a:stretch/>
        </p:blipFill>
        <p:spPr>
          <a:xfrm>
            <a:off x="1333500" y="2011560"/>
            <a:ext cx="9525000" cy="4572000"/>
          </a:xfrm>
          <a:prstGeom prst="rect">
            <a:avLst/>
          </a:prstGeom>
          <a:noFill/>
          <a:ln>
            <a:noFill/>
          </a:ln>
        </p:spPr>
      </p:pic>
      <p:pic>
        <p:nvPicPr>
          <p:cNvPr id="410" name="Google Shape;410;p37" descr="image.png"/>
          <p:cNvPicPr preferRelativeResize="0"/>
          <p:nvPr/>
        </p:nvPicPr>
        <p:blipFill rotWithShape="1">
          <a:blip r:embed="rId5">
            <a:alphaModFix/>
          </a:blip>
          <a:srcRect/>
          <a:stretch/>
        </p:blipFill>
        <p:spPr>
          <a:xfrm>
            <a:off x="1343025" y="2021085"/>
            <a:ext cx="9505950" cy="4552950"/>
          </a:xfrm>
          <a:prstGeom prst="rect">
            <a:avLst/>
          </a:prstGeom>
          <a:noFill/>
          <a:ln>
            <a:noFill/>
          </a:ln>
        </p:spPr>
      </p:pic>
      <p:sp>
        <p:nvSpPr>
          <p:cNvPr id="411" name="Google Shape;411;p37"/>
          <p:cNvSpPr txBox="1"/>
          <p:nvPr/>
        </p:nvSpPr>
        <p:spPr>
          <a:xfrm>
            <a:off x="714375" y="264914"/>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Users</a:t>
            </a:r>
            <a:endParaRPr/>
          </a:p>
        </p:txBody>
      </p:sp>
      <p:sp>
        <p:nvSpPr>
          <p:cNvPr id="412" name="Google Shape;412;p37"/>
          <p:cNvSpPr/>
          <p:nvPr/>
        </p:nvSpPr>
        <p:spPr>
          <a:xfrm>
            <a:off x="571500" y="264914"/>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13" name="Google Shape;413;p37"/>
          <p:cNvPicPr preferRelativeResize="0"/>
          <p:nvPr/>
        </p:nvPicPr>
        <p:blipFill>
          <a:blip r:embed="rId6">
            <a:alphaModFix/>
          </a:blip>
          <a:stretch>
            <a:fillRect/>
          </a:stretch>
        </p:blipFill>
        <p:spPr>
          <a:xfrm>
            <a:off x="1333500" y="2011550"/>
            <a:ext cx="9505951" cy="4572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17"/>
        <p:cNvGrpSpPr/>
        <p:nvPr/>
      </p:nvGrpSpPr>
      <p:grpSpPr>
        <a:xfrm>
          <a:off x="0" y="0"/>
          <a:ext cx="0" cy="0"/>
          <a:chOff x="0" y="0"/>
          <a:chExt cx="0" cy="0"/>
        </a:xfrm>
      </p:grpSpPr>
      <p:pic>
        <p:nvPicPr>
          <p:cNvPr id="418" name="Google Shape;418;p3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19" name="Google Shape;419;p38"/>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0" name="Google Shape;420;p38"/>
          <p:cNvSpPr txBox="1"/>
          <p:nvPr/>
        </p:nvSpPr>
        <p:spPr>
          <a:xfrm>
            <a:off x="714375" y="1055489"/>
            <a:ext cx="10906125" cy="670321"/>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650" b="0" i="0" u="none" strike="noStrike" cap="none">
                <a:solidFill>
                  <a:srgbClr val="F8FAFC"/>
                </a:solidFill>
                <a:latin typeface="Inter"/>
                <a:ea typeface="Inter"/>
                <a:cs typeface="Inter"/>
                <a:sym typeface="Inter"/>
              </a:rPr>
              <a:t>Groq AI Workspace Assistant: Integrated intelligence providing instant project summaries, pipeline health checks, and real-time environment insights.</a:t>
            </a:r>
            <a:endParaRPr/>
          </a:p>
        </p:txBody>
      </p:sp>
      <p:sp>
        <p:nvSpPr>
          <p:cNvPr id="421" name="Google Shape;421;p38"/>
          <p:cNvSpPr/>
          <p:nvPr/>
        </p:nvSpPr>
        <p:spPr>
          <a:xfrm>
            <a:off x="571500" y="1055489"/>
            <a:ext cx="28575" cy="670321"/>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22" name="Google Shape;422;p38" descr="image.png"/>
          <p:cNvPicPr preferRelativeResize="0"/>
          <p:nvPr/>
        </p:nvPicPr>
        <p:blipFill rotWithShape="1">
          <a:blip r:embed="rId4">
            <a:alphaModFix/>
          </a:blip>
          <a:srcRect/>
          <a:stretch/>
        </p:blipFill>
        <p:spPr>
          <a:xfrm>
            <a:off x="1333500" y="2011560"/>
            <a:ext cx="9525000" cy="4572000"/>
          </a:xfrm>
          <a:prstGeom prst="rect">
            <a:avLst/>
          </a:prstGeom>
          <a:noFill/>
          <a:ln>
            <a:noFill/>
          </a:ln>
        </p:spPr>
      </p:pic>
      <p:pic>
        <p:nvPicPr>
          <p:cNvPr id="423" name="Google Shape;423;p38" descr="image.png"/>
          <p:cNvPicPr preferRelativeResize="0"/>
          <p:nvPr/>
        </p:nvPicPr>
        <p:blipFill rotWithShape="1">
          <a:blip r:embed="rId5">
            <a:alphaModFix/>
          </a:blip>
          <a:srcRect/>
          <a:stretch/>
        </p:blipFill>
        <p:spPr>
          <a:xfrm>
            <a:off x="1343025" y="2021085"/>
            <a:ext cx="9505950" cy="4552950"/>
          </a:xfrm>
          <a:prstGeom prst="rect">
            <a:avLst/>
          </a:prstGeom>
          <a:noFill/>
          <a:ln>
            <a:noFill/>
          </a:ln>
        </p:spPr>
      </p:pic>
      <p:sp>
        <p:nvSpPr>
          <p:cNvPr id="424" name="Google Shape;424;p38"/>
          <p:cNvSpPr txBox="1"/>
          <p:nvPr/>
        </p:nvSpPr>
        <p:spPr>
          <a:xfrm>
            <a:off x="714375" y="264914"/>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AI Assistant</a:t>
            </a:r>
            <a:endParaRPr/>
          </a:p>
        </p:txBody>
      </p:sp>
      <p:sp>
        <p:nvSpPr>
          <p:cNvPr id="425" name="Google Shape;425;p38"/>
          <p:cNvSpPr/>
          <p:nvPr/>
        </p:nvSpPr>
        <p:spPr>
          <a:xfrm>
            <a:off x="571500" y="264914"/>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pic>
        <p:nvPicPr>
          <p:cNvPr id="426" name="Google Shape;426;p38"/>
          <p:cNvPicPr preferRelativeResize="0"/>
          <p:nvPr/>
        </p:nvPicPr>
        <p:blipFill>
          <a:blip r:embed="rId6">
            <a:alphaModFix/>
          </a:blip>
          <a:stretch>
            <a:fillRect/>
          </a:stretch>
        </p:blipFill>
        <p:spPr>
          <a:xfrm>
            <a:off x="1343025" y="2011550"/>
            <a:ext cx="9505950" cy="455295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17"/>
        <p:cNvGrpSpPr/>
        <p:nvPr/>
      </p:nvGrpSpPr>
      <p:grpSpPr>
        <a:xfrm>
          <a:off x="0" y="0"/>
          <a:ext cx="0" cy="0"/>
          <a:chOff x="0" y="0"/>
          <a:chExt cx="0" cy="0"/>
        </a:xfrm>
      </p:grpSpPr>
      <p:pic>
        <p:nvPicPr>
          <p:cNvPr id="418" name="Google Shape;418;p38" descr="image.png"/>
          <p:cNvPicPr preferRelativeResize="0"/>
          <p:nvPr/>
        </p:nvPicPr>
        <p:blipFill rotWithShape="1">
          <a:blip r:embed="rId3">
            <a:alphaModFix/>
          </a:blip>
          <a:srcRect/>
          <a:stretch/>
        </p:blipFill>
        <p:spPr>
          <a:xfrm>
            <a:off x="12032" y="0"/>
            <a:ext cx="12192000" cy="6858000"/>
          </a:xfrm>
          <a:prstGeom prst="rect">
            <a:avLst/>
          </a:prstGeom>
          <a:noFill/>
          <a:ln>
            <a:noFill/>
          </a:ln>
        </p:spPr>
      </p:pic>
      <p:sp>
        <p:nvSpPr>
          <p:cNvPr id="419" name="Google Shape;419;p38"/>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0" name="Google Shape;420;p38"/>
          <p:cNvSpPr txBox="1"/>
          <p:nvPr/>
        </p:nvSpPr>
        <p:spPr>
          <a:xfrm>
            <a:off x="714375" y="1055489"/>
            <a:ext cx="10906125" cy="4875181"/>
          </a:xfrm>
          <a:prstGeom prst="rect">
            <a:avLst/>
          </a:prstGeom>
          <a:noFill/>
          <a:ln>
            <a:noFill/>
          </a:ln>
        </p:spPr>
        <p:txBody>
          <a:bodyPr spcFirstLastPara="1" wrap="square" lIns="0" tIns="0" rIns="0" bIns="0" anchor="t" anchorCtr="0">
            <a:spAutoFit/>
          </a:bodyPr>
          <a:lstStyle/>
          <a:p>
            <a:pPr lvl="0">
              <a:lnSpc>
                <a:spcPct val="160000"/>
              </a:lnSpc>
            </a:pPr>
            <a:r>
              <a:rPr lang="en-US" sz="1650" dirty="0">
                <a:solidFill>
                  <a:srgbClr val="F8FAFC"/>
                </a:solidFill>
                <a:latin typeface="Inter"/>
                <a:ea typeface="Inter"/>
                <a:cs typeface="Inter"/>
                <a:sym typeface="Inter"/>
              </a:rPr>
              <a:t>Milestone1: </a:t>
            </a:r>
            <a:r>
              <a:rPr lang="en-US" sz="1650" dirty="0" err="1">
                <a:solidFill>
                  <a:srgbClr val="F8FAFC"/>
                </a:solidFill>
                <a:latin typeface="Inter"/>
                <a:ea typeface="Inter"/>
                <a:cs typeface="Inter"/>
                <a:sym typeface="Inter"/>
              </a:rPr>
              <a:t>Keycloak</a:t>
            </a:r>
            <a:r>
              <a:rPr lang="en-US" sz="1650" dirty="0">
                <a:solidFill>
                  <a:srgbClr val="F8FAFC"/>
                </a:solidFill>
                <a:latin typeface="Inter"/>
                <a:ea typeface="Inter"/>
                <a:cs typeface="Inter"/>
                <a:sym typeface="Inter"/>
              </a:rPr>
              <a:t> Security</a:t>
            </a:r>
          </a:p>
          <a:p>
            <a:pPr lvl="0">
              <a:lnSpc>
                <a:spcPct val="160000"/>
              </a:lnSpc>
            </a:pPr>
            <a:r>
              <a:rPr lang="en-US" sz="1650" dirty="0">
                <a:solidFill>
                  <a:srgbClr val="F8FAFC"/>
                </a:solidFill>
                <a:latin typeface="Inter"/>
                <a:ea typeface="Inter"/>
                <a:cs typeface="Inter"/>
                <a:sym typeface="Inter"/>
              </a:rPr>
              <a:t>Issue: Syncing JWT sessions securely with the Spring Boot backend.</a:t>
            </a:r>
          </a:p>
          <a:p>
            <a:pPr lvl="0">
              <a:lnSpc>
                <a:spcPct val="160000"/>
              </a:lnSpc>
            </a:pPr>
            <a:r>
              <a:rPr lang="en-US" sz="1650" dirty="0">
                <a:solidFill>
                  <a:srgbClr val="F8FAFC"/>
                </a:solidFill>
                <a:latin typeface="Inter"/>
                <a:ea typeface="Inter"/>
                <a:cs typeface="Inter"/>
                <a:sym typeface="Inter"/>
              </a:rPr>
              <a:t>Fix: Mapped </a:t>
            </a:r>
            <a:r>
              <a:rPr lang="en-US" sz="1650" dirty="0" err="1">
                <a:solidFill>
                  <a:srgbClr val="F8FAFC"/>
                </a:solidFill>
                <a:latin typeface="Inter"/>
                <a:ea typeface="Inter"/>
                <a:cs typeface="Inter"/>
                <a:sym typeface="Inter"/>
              </a:rPr>
              <a:t>Keycloak</a:t>
            </a:r>
            <a:r>
              <a:rPr lang="en-US" sz="1650" dirty="0">
                <a:solidFill>
                  <a:srgbClr val="F8FAFC"/>
                </a:solidFill>
                <a:latin typeface="Inter"/>
                <a:ea typeface="Inter"/>
                <a:cs typeface="Inter"/>
                <a:sym typeface="Inter"/>
              </a:rPr>
              <a:t> claims directly to </a:t>
            </a:r>
            <a:r>
              <a:rPr lang="en-US" sz="1650" dirty="0" err="1">
                <a:solidFill>
                  <a:srgbClr val="F8FAFC"/>
                </a:solidFill>
                <a:latin typeface="Inter"/>
                <a:ea typeface="Inter"/>
                <a:cs typeface="Inter"/>
                <a:sym typeface="Inter"/>
              </a:rPr>
              <a:t>PostgreSQL</a:t>
            </a:r>
            <a:r>
              <a:rPr lang="en-US" sz="1650" dirty="0">
                <a:solidFill>
                  <a:srgbClr val="F8FAFC"/>
                </a:solidFill>
                <a:latin typeface="Inter"/>
                <a:ea typeface="Inter"/>
                <a:cs typeface="Inter"/>
                <a:sym typeface="Inter"/>
              </a:rPr>
              <a:t> for real-time RBAC validation.</a:t>
            </a:r>
          </a:p>
          <a:p>
            <a:pPr lvl="0">
              <a:lnSpc>
                <a:spcPct val="160000"/>
              </a:lnSpc>
            </a:pPr>
            <a:r>
              <a:rPr lang="en-US" sz="1650" dirty="0">
                <a:solidFill>
                  <a:srgbClr val="F8FAFC"/>
                </a:solidFill>
                <a:latin typeface="Inter"/>
                <a:ea typeface="Inter"/>
                <a:cs typeface="Inter"/>
                <a:sym typeface="Inter"/>
              </a:rPr>
              <a:t>Milestone2:React Frontend State</a:t>
            </a:r>
          </a:p>
          <a:p>
            <a:pPr lvl="0">
              <a:lnSpc>
                <a:spcPct val="160000"/>
              </a:lnSpc>
            </a:pPr>
            <a:r>
              <a:rPr lang="en-US" sz="1650" dirty="0">
                <a:solidFill>
                  <a:srgbClr val="F8FAFC"/>
                </a:solidFill>
                <a:latin typeface="Inter"/>
                <a:ea typeface="Inter"/>
                <a:cs typeface="Inter"/>
                <a:sym typeface="Inter"/>
              </a:rPr>
              <a:t>Issue: UI lag during </a:t>
            </a:r>
            <a:r>
              <a:rPr lang="en-US" sz="1650" dirty="0" err="1">
                <a:solidFill>
                  <a:srgbClr val="F8FAFC"/>
                </a:solidFill>
                <a:latin typeface="Inter"/>
                <a:ea typeface="Inter"/>
                <a:cs typeface="Inter"/>
                <a:sym typeface="Inter"/>
              </a:rPr>
              <a:t>Kanban</a:t>
            </a:r>
            <a:r>
              <a:rPr lang="en-US" sz="1650" dirty="0">
                <a:solidFill>
                  <a:srgbClr val="F8FAFC"/>
                </a:solidFill>
                <a:latin typeface="Inter"/>
                <a:ea typeface="Inter"/>
                <a:cs typeface="Inter"/>
                <a:sym typeface="Inter"/>
              </a:rPr>
              <a:t> board drag-and-drop operations.</a:t>
            </a:r>
          </a:p>
          <a:p>
            <a:pPr lvl="0">
              <a:lnSpc>
                <a:spcPct val="160000"/>
              </a:lnSpc>
            </a:pPr>
            <a:r>
              <a:rPr lang="en-US" sz="1650" dirty="0">
                <a:solidFill>
                  <a:srgbClr val="F8FAFC"/>
                </a:solidFill>
                <a:latin typeface="Inter"/>
                <a:ea typeface="Inter"/>
                <a:cs typeface="Inter"/>
                <a:sym typeface="Inter"/>
              </a:rPr>
              <a:t>Fix: Optimized React state management to prevent excessive re-rendering.</a:t>
            </a:r>
          </a:p>
          <a:p>
            <a:pPr lvl="0">
              <a:lnSpc>
                <a:spcPct val="160000"/>
              </a:lnSpc>
            </a:pPr>
            <a:r>
              <a:rPr lang="en-US" sz="1650" dirty="0">
                <a:solidFill>
                  <a:srgbClr val="F8FAFC"/>
                </a:solidFill>
                <a:latin typeface="Inter"/>
                <a:ea typeface="Inter"/>
                <a:cs typeface="Inter"/>
                <a:sym typeface="Inter"/>
              </a:rPr>
              <a:t>Milestone3:GitHub Actions CI/CD</a:t>
            </a:r>
          </a:p>
          <a:p>
            <a:pPr lvl="0">
              <a:lnSpc>
                <a:spcPct val="160000"/>
              </a:lnSpc>
            </a:pPr>
            <a:r>
              <a:rPr lang="en-US" sz="1650" dirty="0">
                <a:solidFill>
                  <a:srgbClr val="F8FAFC"/>
                </a:solidFill>
                <a:latin typeface="Inter"/>
                <a:ea typeface="Inter"/>
                <a:cs typeface="Inter"/>
                <a:sym typeface="Inter"/>
              </a:rPr>
              <a:t>Issue: </a:t>
            </a:r>
            <a:r>
              <a:rPr lang="en-US" sz="1650" dirty="0" err="1">
                <a:solidFill>
                  <a:srgbClr val="F8FAFC"/>
                </a:solidFill>
                <a:latin typeface="Inter"/>
                <a:ea typeface="Inter"/>
                <a:cs typeface="Inter"/>
                <a:sym typeface="Inter"/>
              </a:rPr>
              <a:t>Securily</a:t>
            </a:r>
            <a:r>
              <a:rPr lang="en-US" sz="1650" dirty="0">
                <a:solidFill>
                  <a:srgbClr val="F8FAFC"/>
                </a:solidFill>
                <a:latin typeface="Inter"/>
                <a:ea typeface="Inter"/>
                <a:cs typeface="Inter"/>
                <a:sym typeface="Inter"/>
              </a:rPr>
              <a:t> triggering </a:t>
            </a:r>
            <a:r>
              <a:rPr lang="en-US" sz="1650" dirty="0" err="1">
                <a:solidFill>
                  <a:srgbClr val="F8FAFC"/>
                </a:solidFill>
                <a:latin typeface="Inter"/>
                <a:ea typeface="Inter"/>
                <a:cs typeface="Inter"/>
                <a:sym typeface="Inter"/>
              </a:rPr>
              <a:t>webhook</a:t>
            </a:r>
            <a:r>
              <a:rPr lang="en-US" sz="1650" dirty="0">
                <a:solidFill>
                  <a:srgbClr val="F8FAFC"/>
                </a:solidFill>
                <a:latin typeface="Inter"/>
                <a:ea typeface="Inter"/>
                <a:cs typeface="Inter"/>
                <a:sym typeface="Inter"/>
              </a:rPr>
              <a:t> from a local development setup.</a:t>
            </a:r>
          </a:p>
          <a:p>
            <a:pPr lvl="0">
              <a:lnSpc>
                <a:spcPct val="160000"/>
              </a:lnSpc>
            </a:pPr>
            <a:r>
              <a:rPr lang="en-US" sz="1650" dirty="0">
                <a:solidFill>
                  <a:srgbClr val="F8FAFC"/>
                </a:solidFill>
                <a:latin typeface="Inter"/>
                <a:ea typeface="Inter"/>
                <a:cs typeface="Inter"/>
                <a:sym typeface="Inter"/>
              </a:rPr>
              <a:t>Fix: Implemented secure </a:t>
            </a:r>
            <a:r>
              <a:rPr lang="en-US" sz="1650" dirty="0" err="1">
                <a:solidFill>
                  <a:srgbClr val="F8FAFC"/>
                </a:solidFill>
                <a:latin typeface="Inter"/>
                <a:ea typeface="Inter"/>
                <a:cs typeface="Inter"/>
                <a:sym typeface="Inter"/>
              </a:rPr>
              <a:t>ngrok</a:t>
            </a:r>
            <a:r>
              <a:rPr lang="en-US" sz="1650" dirty="0">
                <a:solidFill>
                  <a:srgbClr val="F8FAFC"/>
                </a:solidFill>
                <a:latin typeface="Inter"/>
                <a:ea typeface="Inter"/>
                <a:cs typeface="Inter"/>
                <a:sym typeface="Inter"/>
              </a:rPr>
              <a:t> tunneling and strict </a:t>
            </a:r>
            <a:r>
              <a:rPr lang="en-US" sz="1650" dirty="0" err="1">
                <a:solidFill>
                  <a:srgbClr val="F8FAFC"/>
                </a:solidFill>
                <a:latin typeface="Inter"/>
                <a:ea typeface="Inter"/>
                <a:cs typeface="Inter"/>
                <a:sym typeface="Inter"/>
              </a:rPr>
              <a:t>wehook</a:t>
            </a:r>
            <a:r>
              <a:rPr lang="en-US" sz="1650" dirty="0">
                <a:solidFill>
                  <a:srgbClr val="F8FAFC"/>
                </a:solidFill>
                <a:latin typeface="Inter"/>
                <a:ea typeface="Inter"/>
                <a:cs typeface="Inter"/>
                <a:sym typeface="Inter"/>
              </a:rPr>
              <a:t> secret verification.</a:t>
            </a:r>
          </a:p>
          <a:p>
            <a:pPr lvl="0">
              <a:lnSpc>
                <a:spcPct val="160000"/>
              </a:lnSpc>
            </a:pPr>
            <a:r>
              <a:rPr lang="en-US" sz="1650" dirty="0">
                <a:solidFill>
                  <a:srgbClr val="F8FAFC"/>
                </a:solidFill>
                <a:latin typeface="Inter"/>
                <a:ea typeface="Inter"/>
                <a:cs typeface="Inter"/>
                <a:sym typeface="Inter"/>
              </a:rPr>
              <a:t>Milestone4:Promethues and </a:t>
            </a:r>
            <a:r>
              <a:rPr lang="en-US" sz="1650" dirty="0" err="1">
                <a:solidFill>
                  <a:srgbClr val="F8FAFC"/>
                </a:solidFill>
                <a:latin typeface="Inter"/>
                <a:ea typeface="Inter"/>
                <a:cs typeface="Inter"/>
                <a:sym typeface="Inter"/>
              </a:rPr>
              <a:t>Grafana</a:t>
            </a:r>
            <a:endParaRPr lang="en-US" sz="1650" dirty="0">
              <a:solidFill>
                <a:srgbClr val="F8FAFC"/>
              </a:solidFill>
              <a:latin typeface="Inter"/>
              <a:ea typeface="Inter"/>
              <a:cs typeface="Inter"/>
              <a:sym typeface="Inter"/>
            </a:endParaRPr>
          </a:p>
          <a:p>
            <a:pPr lvl="0">
              <a:lnSpc>
                <a:spcPct val="160000"/>
              </a:lnSpc>
            </a:pPr>
            <a:r>
              <a:rPr lang="en-US" sz="1650" dirty="0">
                <a:solidFill>
                  <a:srgbClr val="F8FAFC"/>
                </a:solidFill>
                <a:latin typeface="Inter"/>
                <a:ea typeface="Inter"/>
                <a:cs typeface="Inter"/>
                <a:sym typeface="Inter"/>
              </a:rPr>
              <a:t>Issue: Monitoring tools consuming too much system RAM.</a:t>
            </a:r>
          </a:p>
          <a:p>
            <a:pPr lvl="0">
              <a:lnSpc>
                <a:spcPct val="160000"/>
              </a:lnSpc>
            </a:pPr>
            <a:r>
              <a:rPr lang="en-US" sz="1650" dirty="0">
                <a:solidFill>
                  <a:srgbClr val="F8FAFC"/>
                </a:solidFill>
                <a:latin typeface="Inter"/>
                <a:ea typeface="Inter"/>
                <a:cs typeface="Inter"/>
                <a:sym typeface="Inter"/>
              </a:rPr>
              <a:t>Fix: Capped </a:t>
            </a:r>
            <a:r>
              <a:rPr lang="en-US" sz="1650" dirty="0" err="1">
                <a:solidFill>
                  <a:srgbClr val="F8FAFC"/>
                </a:solidFill>
                <a:latin typeface="Inter"/>
                <a:ea typeface="Inter"/>
                <a:cs typeface="Inter"/>
                <a:sym typeface="Inter"/>
              </a:rPr>
              <a:t>Docker</a:t>
            </a:r>
            <a:r>
              <a:rPr lang="en-US" sz="1650" dirty="0">
                <a:solidFill>
                  <a:srgbClr val="F8FAFC"/>
                </a:solidFill>
                <a:latin typeface="Inter"/>
                <a:ea typeface="Inter"/>
                <a:cs typeface="Inter"/>
                <a:sym typeface="Inter"/>
              </a:rPr>
              <a:t> resource limits and optimized metric scraping intervals.</a:t>
            </a:r>
          </a:p>
        </p:txBody>
      </p:sp>
      <p:sp>
        <p:nvSpPr>
          <p:cNvPr id="421" name="Google Shape;421;p38"/>
          <p:cNvSpPr/>
          <p:nvPr/>
        </p:nvSpPr>
        <p:spPr>
          <a:xfrm>
            <a:off x="571500" y="1055489"/>
            <a:ext cx="28575" cy="670321"/>
          </a:xfrm>
          <a:prstGeom prst="rect">
            <a:avLst/>
          </a:prstGeom>
          <a:solidFill>
            <a:srgbClr val="10B98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24" name="Google Shape;424;p38"/>
          <p:cNvSpPr txBox="1"/>
          <p:nvPr/>
        </p:nvSpPr>
        <p:spPr>
          <a:xfrm>
            <a:off x="714375" y="264914"/>
            <a:ext cx="11451431" cy="4847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dirty="0">
                <a:solidFill>
                  <a:srgbClr val="F8FAFC"/>
                </a:solidFill>
                <a:latin typeface="Space Grotesk"/>
                <a:ea typeface="Space Grotesk"/>
                <a:cs typeface="Space Grotesk"/>
                <a:sym typeface="Space Grotesk"/>
              </a:rPr>
              <a:t>C</a:t>
            </a:r>
            <a:r>
              <a:rPr lang="en-US" sz="3150" b="1" i="0" u="none" strike="noStrike" cap="none" dirty="0">
                <a:solidFill>
                  <a:srgbClr val="F8FAFC"/>
                </a:solidFill>
                <a:latin typeface="Space Grotesk"/>
                <a:ea typeface="Space Grotesk"/>
                <a:cs typeface="Space Grotesk"/>
                <a:sym typeface="Space Grotesk"/>
              </a:rPr>
              <a:t>hallenges Faced</a:t>
            </a:r>
            <a:endParaRPr dirty="0"/>
          </a:p>
        </p:txBody>
      </p:sp>
      <p:sp>
        <p:nvSpPr>
          <p:cNvPr id="425" name="Google Shape;425;p38"/>
          <p:cNvSpPr/>
          <p:nvPr/>
        </p:nvSpPr>
        <p:spPr>
          <a:xfrm>
            <a:off x="571500" y="264914"/>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187797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30"/>
        <p:cNvGrpSpPr/>
        <p:nvPr/>
      </p:nvGrpSpPr>
      <p:grpSpPr>
        <a:xfrm>
          <a:off x="0" y="0"/>
          <a:ext cx="0" cy="0"/>
          <a:chOff x="0" y="0"/>
          <a:chExt cx="0" cy="0"/>
        </a:xfrm>
      </p:grpSpPr>
      <p:pic>
        <p:nvPicPr>
          <p:cNvPr id="431" name="Google Shape;431;p39"/>
          <p:cNvPicPr preferRelativeResize="0"/>
          <p:nvPr/>
        </p:nvPicPr>
        <p:blipFill rotWithShape="1">
          <a:blip r:embed="rId3">
            <a:alphaModFix/>
          </a:blip>
          <a:srcRect t="21875" b="21875"/>
          <a:stretch/>
        </p:blipFill>
        <p:spPr>
          <a:xfrm>
            <a:off x="4572000" y="1158100"/>
            <a:ext cx="7252900" cy="4951863"/>
          </a:xfrm>
          <a:prstGeom prst="rect">
            <a:avLst/>
          </a:prstGeom>
          <a:noFill/>
          <a:ln>
            <a:noFill/>
          </a:ln>
        </p:spPr>
      </p:pic>
      <p:pic>
        <p:nvPicPr>
          <p:cNvPr id="432" name="Google Shape;432;p39" descr="image.png"/>
          <p:cNvPicPr preferRelativeResize="0"/>
          <p:nvPr/>
        </p:nvPicPr>
        <p:blipFill rotWithShape="1">
          <a:blip r:embed="rId4">
            <a:alphaModFix/>
          </a:blip>
          <a:srcRect/>
          <a:stretch/>
        </p:blipFill>
        <p:spPr>
          <a:xfrm>
            <a:off x="866775" y="1743075"/>
            <a:ext cx="2333625" cy="676275"/>
          </a:xfrm>
          <a:prstGeom prst="rect">
            <a:avLst/>
          </a:prstGeom>
          <a:noFill/>
          <a:ln>
            <a:noFill/>
          </a:ln>
        </p:spPr>
      </p:pic>
      <p:pic>
        <p:nvPicPr>
          <p:cNvPr id="433" name="Google Shape;433;p39" descr="image.png"/>
          <p:cNvPicPr preferRelativeResize="0"/>
          <p:nvPr/>
        </p:nvPicPr>
        <p:blipFill rotWithShape="1">
          <a:blip r:embed="rId5">
            <a:alphaModFix/>
          </a:blip>
          <a:srcRect/>
          <a:stretch/>
        </p:blipFill>
        <p:spPr>
          <a:xfrm>
            <a:off x="844204" y="2788968"/>
            <a:ext cx="2857500" cy="676275"/>
          </a:xfrm>
          <a:prstGeom prst="rect">
            <a:avLst/>
          </a:prstGeom>
          <a:noFill/>
          <a:ln>
            <a:noFill/>
          </a:ln>
        </p:spPr>
      </p:pic>
      <p:pic>
        <p:nvPicPr>
          <p:cNvPr id="434" name="Google Shape;434;p39" descr="image.png"/>
          <p:cNvPicPr preferRelativeResize="0"/>
          <p:nvPr/>
        </p:nvPicPr>
        <p:blipFill rotWithShape="1">
          <a:blip r:embed="rId6">
            <a:alphaModFix/>
          </a:blip>
          <a:srcRect/>
          <a:stretch/>
        </p:blipFill>
        <p:spPr>
          <a:xfrm>
            <a:off x="866763" y="4839400"/>
            <a:ext cx="2209800" cy="676275"/>
          </a:xfrm>
          <a:prstGeom prst="rect">
            <a:avLst/>
          </a:prstGeom>
          <a:noFill/>
          <a:ln>
            <a:noFill/>
          </a:ln>
        </p:spPr>
      </p:pic>
      <p:pic>
        <p:nvPicPr>
          <p:cNvPr id="435" name="Google Shape;435;p39" descr="image.png"/>
          <p:cNvPicPr preferRelativeResize="0"/>
          <p:nvPr/>
        </p:nvPicPr>
        <p:blipFill rotWithShape="1">
          <a:blip r:embed="rId7">
            <a:alphaModFix/>
          </a:blip>
          <a:srcRect/>
          <a:stretch/>
        </p:blipFill>
        <p:spPr>
          <a:xfrm>
            <a:off x="866763" y="3834862"/>
            <a:ext cx="2486025" cy="676275"/>
          </a:xfrm>
          <a:prstGeom prst="rect">
            <a:avLst/>
          </a:prstGeom>
          <a:noFill/>
          <a:ln>
            <a:noFill/>
          </a:ln>
        </p:spPr>
      </p:pic>
      <p:pic>
        <p:nvPicPr>
          <p:cNvPr id="436" name="Google Shape;436;p39" descr="image.png"/>
          <p:cNvPicPr preferRelativeResize="0"/>
          <p:nvPr/>
        </p:nvPicPr>
        <p:blipFill rotWithShape="1">
          <a:blip r:embed="rId8">
            <a:alphaModFix/>
          </a:blip>
          <a:srcRect/>
          <a:stretch/>
        </p:blipFill>
        <p:spPr>
          <a:xfrm>
            <a:off x="866775" y="5843938"/>
            <a:ext cx="1733550" cy="676275"/>
          </a:xfrm>
          <a:prstGeom prst="rect">
            <a:avLst/>
          </a:prstGeom>
          <a:noFill/>
          <a:ln>
            <a:noFill/>
          </a:ln>
        </p:spPr>
      </p:pic>
      <p:sp>
        <p:nvSpPr>
          <p:cNvPr id="437" name="Google Shape;437;p39"/>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8" name="Google Shape;438;p39"/>
          <p:cNvSpPr txBox="1"/>
          <p:nvPr/>
        </p:nvSpPr>
        <p:spPr>
          <a:xfrm>
            <a:off x="714375" y="476250"/>
            <a:ext cx="11451431" cy="5048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3150" b="1" i="0" u="none" strike="noStrike" cap="none">
                <a:solidFill>
                  <a:srgbClr val="F8FAFC"/>
                </a:solidFill>
                <a:latin typeface="Space Grotesk"/>
                <a:ea typeface="Space Grotesk"/>
                <a:cs typeface="Space Grotesk"/>
                <a:sym typeface="Space Grotesk"/>
              </a:rPr>
              <a:t>Team Members</a:t>
            </a:r>
            <a:endParaRPr/>
          </a:p>
        </p:txBody>
      </p:sp>
      <p:sp>
        <p:nvSpPr>
          <p:cNvPr id="439" name="Google Shape;439;p39"/>
          <p:cNvSpPr/>
          <p:nvPr/>
        </p:nvSpPr>
        <p:spPr>
          <a:xfrm>
            <a:off x="571500" y="476250"/>
            <a:ext cx="47625" cy="504825"/>
          </a:xfrm>
          <a:prstGeom prst="rect">
            <a:avLst/>
          </a:prstGeom>
          <a:solidFill>
            <a:srgbClr val="06B6D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443"/>
        <p:cNvGrpSpPr/>
        <p:nvPr/>
      </p:nvGrpSpPr>
      <p:grpSpPr>
        <a:xfrm>
          <a:off x="0" y="0"/>
          <a:ext cx="0" cy="0"/>
          <a:chOff x="0" y="0"/>
          <a:chExt cx="0" cy="0"/>
        </a:xfrm>
      </p:grpSpPr>
      <p:pic>
        <p:nvPicPr>
          <p:cNvPr id="444" name="Google Shape;444;p4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445" name="Google Shape;445;p40"/>
          <p:cNvSpPr/>
          <p:nvPr/>
        </p:nvSpPr>
        <p:spPr>
          <a:xfrm>
            <a:off x="0" y="6848475"/>
            <a:ext cx="12192000" cy="9525"/>
          </a:xfrm>
          <a:prstGeom prst="rect">
            <a:avLst/>
          </a:prstGeom>
          <a:solidFill>
            <a:srgbClr val="00000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6" name="Google Shape;446;p40"/>
          <p:cNvSpPr txBox="1"/>
          <p:nvPr/>
        </p:nvSpPr>
        <p:spPr>
          <a:xfrm>
            <a:off x="3910726" y="2952750"/>
            <a:ext cx="4370546" cy="942975"/>
          </a:xfrm>
          <a:prstGeom prst="rect">
            <a:avLst/>
          </a:prstGeom>
          <a:noFill/>
          <a:ln>
            <a:noFill/>
          </a:ln>
        </p:spPr>
        <p:txBody>
          <a:bodyPr spcFirstLastPara="1" wrap="square" lIns="0" tIns="0" rIns="0" bIns="0" anchor="t" anchorCtr="0">
            <a:spAutoFit/>
          </a:bodyPr>
          <a:lstStyle/>
          <a:p>
            <a:pPr marL="0" marR="0" lvl="0" indent="0" algn="ctr" rtl="0">
              <a:lnSpc>
                <a:spcPct val="110000"/>
              </a:lnSpc>
              <a:spcBef>
                <a:spcPts val="0"/>
              </a:spcBef>
              <a:spcAft>
                <a:spcPts val="0"/>
              </a:spcAft>
              <a:buNone/>
            </a:pPr>
            <a:r>
              <a:rPr lang="en-US" sz="6750" b="1" i="0" u="none" strike="noStrike" cap="none">
                <a:solidFill>
                  <a:srgbClr val="06B6D4"/>
                </a:solidFill>
                <a:latin typeface="Space Grotesk"/>
                <a:ea typeface="Space Grotesk"/>
                <a:cs typeface="Space Grotesk"/>
                <a:sym typeface="Space Grotesk"/>
              </a:rPr>
              <a:t>Thank You</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TotalTime>
  <Words>942</Words>
  <Application>Microsoft Office PowerPoint</Application>
  <PresentationFormat>Widescreen</PresentationFormat>
  <Paragraphs>95</Paragraphs>
  <Slides>29</Slides>
  <Notes>29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Calibri</vt:lpstr>
      <vt:lpstr>Inter</vt:lpstr>
      <vt:lpstr>Inter SemiBold</vt:lpstr>
      <vt:lpstr>Space Grotesk</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Jashanpreet Singh</dc:creator>
  <cp:lastModifiedBy>Jashanpreet Singh</cp:lastModifiedBy>
  <cp:revision>6</cp:revision>
  <dcterms:modified xsi:type="dcterms:W3CDTF">2026-09-15T04:55:51Z</dcterms:modified>
</cp:coreProperties>
</file>